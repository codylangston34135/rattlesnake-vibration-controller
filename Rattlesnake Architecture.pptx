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64" r:id="rId2"/>
    <p:sldId id="268" r:id="rId3"/>
    <p:sldId id="258" r:id="rId4"/>
    <p:sldId id="265" r:id="rId5"/>
    <p:sldId id="266" r:id="rId6"/>
    <p:sldId id="267" r:id="rId7"/>
    <p:sldId id="269" r:id="rId8"/>
    <p:sldId id="270" r:id="rId9"/>
    <p:sldId id="271" r:id="rId10"/>
    <p:sldId id="272" r:id="rId11"/>
    <p:sldId id="279" r:id="rId12"/>
    <p:sldId id="273" r:id="rId13"/>
    <p:sldId id="274" r:id="rId14"/>
    <p:sldId id="263" r:id="rId15"/>
    <p:sldId id="275" r:id="rId16"/>
    <p:sldId id="261" r:id="rId17"/>
    <p:sldId id="277" r:id="rId18"/>
    <p:sldId id="276" r:id="rId19"/>
    <p:sldId id="280" r:id="rId20"/>
    <p:sldId id="282" r:id="rId21"/>
    <p:sldId id="283" r:id="rId22"/>
    <p:sldId id="284" r:id="rId23"/>
    <p:sldId id="285" r:id="rId24"/>
    <p:sldId id="287" r:id="rId25"/>
    <p:sldId id="286" r:id="rId26"/>
    <p:sldId id="288" r:id="rId27"/>
    <p:sldId id="289" r:id="rId28"/>
    <p:sldId id="259" r:id="rId29"/>
    <p:sldId id="260" r:id="rId30"/>
    <p:sldId id="262" r:id="rId31"/>
    <p:sldId id="281" r:id="rId32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87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4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FC465-60AB-408F-8107-10891B2ACC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8AFA9-3BBB-47A6-8C89-CA351DAA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90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AFA9-3BBB-47A6-8C89-CA351DAA8E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04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CFDE-F175-5D9C-B98D-610EFD19C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4E587-67AA-ED49-C8DD-3AC8C1AB8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CDEE2-34C3-7672-ADE4-50728358F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3DD95-977B-F58E-D800-CF6982AD2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AFA9-3BBB-47A6-8C89-CA351DAA8E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59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3B47A-32FA-716D-46BB-0CB26A0F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D438A-171C-C6C9-BA0A-06ABC13D2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B7AD8-BFC3-EB64-5CEE-5B52F4C93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B264F-04F2-F77F-804F-BE0A5D385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AFA9-3BBB-47A6-8C89-CA351DAA8E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46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7358-6B6A-D4C2-B925-ABB8CAFA3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4AFCF-4475-A7A2-2D6E-196821303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ADFAA-1568-9C77-90EE-9F834EB2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7AAD9-C6D7-3E82-A8D9-EF593261B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AFA9-3BBB-47A6-8C89-CA351DAA8E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51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74629-DCF2-C73D-F8BC-7E3393D0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46371-BBDD-CB19-CACD-34F946CCD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58309-27A1-3766-3019-E98ABEC5E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B870D-1DA1-9221-01AD-5F3EEB33F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AFA9-3BBB-47A6-8C89-CA351DAA8E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02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AFE9-C68C-3B7E-DD34-43E8176FE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5EA86-088F-4A9F-92AD-B2906B64B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1343E-D991-E951-AA75-0974F97B5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63ADE-E988-45DC-7FF2-D9B333F5B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AFA9-3BBB-47A6-8C89-CA351DAA8E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80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58593-D226-F2F4-BEB0-63E52DD8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7430B-ECD8-3277-A4ED-6F911F7BA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F12CD-6AE9-F150-E519-E762E133F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57FA6-1F55-8987-D352-39D1C1F2F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AFA9-3BBB-47A6-8C89-CA351DAA8E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86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68533-CA7C-E313-FBBB-1A4A3813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D040D-E769-49B4-9D99-35AD081E8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3611B-01C6-9117-F3EC-D42194615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279A5-5A24-A9AA-68BF-64794A489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AFA9-3BBB-47A6-8C89-CA351DAA8E9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5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70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7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7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26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9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5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0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4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4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8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51A13-A9DD-45EE-BBC0-E2EC78A76A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CC8A2-603F-4832-B8A6-C5C16943A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9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2270-00C8-F5FC-C3DA-D5B831D61B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Headless Overhaul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E3358-FF5D-1709-F6AB-6CCE764A3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92EA-1EB2-4E59-7604-D95C3B82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057E7-7593-2CD0-1F39-8B36E471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F9D6A-4713-F4F7-10A3-79C68C230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The main workflow for headless Rattlesnake is:</a:t>
            </a:r>
          </a:p>
          <a:p>
            <a:r>
              <a:rPr lang="en-US" sz="3000" dirty="0"/>
              <a:t>Build Hardware Metadata =&gt; </a:t>
            </a:r>
            <a:r>
              <a:rPr lang="en-US" sz="3000" dirty="0" err="1"/>
              <a:t>Rattlesnake.initialize_hardware</a:t>
            </a:r>
            <a:r>
              <a:rPr lang="en-US" sz="3000" dirty="0"/>
              <a:t>()</a:t>
            </a:r>
          </a:p>
          <a:p>
            <a:r>
              <a:rPr lang="en-US" sz="3000" dirty="0"/>
              <a:t>Build list of Environment Metadata =&gt; </a:t>
            </a:r>
            <a:r>
              <a:rPr lang="en-US" sz="3000" dirty="0" err="1"/>
              <a:t>Rattlesnake.initialize_environment</a:t>
            </a:r>
            <a:r>
              <a:rPr lang="en-US" sz="3000" dirty="0"/>
              <a:t>()</a:t>
            </a:r>
          </a:p>
          <a:p>
            <a:r>
              <a:rPr lang="en-US" sz="3000" dirty="0"/>
              <a:t>Define Streaming Metadata =&gt; </a:t>
            </a:r>
            <a:r>
              <a:rPr lang="en-US" sz="3000" dirty="0" err="1"/>
              <a:t>Rattlesnake.start_acquisition</a:t>
            </a:r>
            <a:r>
              <a:rPr lang="en-US" sz="3000" dirty="0"/>
              <a:t>()</a:t>
            </a:r>
          </a:p>
          <a:p>
            <a:r>
              <a:rPr lang="en-US" sz="3000" dirty="0"/>
              <a:t>Data startup can look a few ways</a:t>
            </a:r>
          </a:p>
          <a:p>
            <a:pPr lvl="1"/>
            <a:r>
              <a:rPr lang="en-US" sz="3000" dirty="0"/>
              <a:t>Launch UI and control environment from run tab</a:t>
            </a:r>
          </a:p>
          <a:p>
            <a:pPr lvl="1"/>
            <a:r>
              <a:rPr lang="en-US" sz="3000" dirty="0"/>
              <a:t>Define </a:t>
            </a:r>
            <a:r>
              <a:rPr lang="en-US" sz="3000" dirty="0" err="1"/>
              <a:t>EnvironmentInstructions</a:t>
            </a:r>
            <a:r>
              <a:rPr lang="en-US" sz="3000" dirty="0"/>
              <a:t> and </a:t>
            </a:r>
            <a:r>
              <a:rPr lang="en-US" sz="3000" dirty="0" err="1"/>
              <a:t>ProfileEventList</a:t>
            </a:r>
            <a:r>
              <a:rPr lang="en-US" sz="3000" dirty="0"/>
              <a:t> =&gt; </a:t>
            </a:r>
            <a:r>
              <a:rPr lang="en-US" sz="3000" dirty="0" err="1"/>
              <a:t>Rattlesnake.start_profile</a:t>
            </a:r>
            <a:r>
              <a:rPr lang="en-US" sz="3000" dirty="0"/>
              <a:t>()</a:t>
            </a:r>
          </a:p>
          <a:p>
            <a:r>
              <a:rPr lang="en-US" sz="3000" dirty="0"/>
              <a:t>Closeout</a:t>
            </a:r>
          </a:p>
          <a:p>
            <a:pPr lvl="1"/>
            <a:r>
              <a:rPr lang="en-US" sz="3000" dirty="0" err="1"/>
              <a:t>Rattlesnake.stop_acquisition</a:t>
            </a:r>
            <a:r>
              <a:rPr lang="en-US" sz="3000" dirty="0"/>
              <a:t>()/Stop by profile event</a:t>
            </a:r>
          </a:p>
          <a:p>
            <a:pPr lvl="1"/>
            <a:r>
              <a:rPr lang="en-US" sz="3000" dirty="0" err="1"/>
              <a:t>Rattlesnake.shutdown</a:t>
            </a:r>
            <a:r>
              <a:rPr lang="en-US" sz="3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2696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BC33F-AC2F-2F8C-6860-78ED81C5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49">
            <a:extLst>
              <a:ext uri="{FF2B5EF4-FFF2-40B4-BE49-F238E27FC236}">
                <a16:creationId xmlns:a16="http://schemas.microsoft.com/office/drawing/2014/main" id="{A8E873E5-950B-0D40-3E53-FDA0F92FED7E}"/>
              </a:ext>
            </a:extLst>
          </p:cNvPr>
          <p:cNvSpPr/>
          <p:nvPr/>
        </p:nvSpPr>
        <p:spPr>
          <a:xfrm>
            <a:off x="1144438" y="4280584"/>
            <a:ext cx="13250173" cy="2350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014F6F-3B7E-4B18-37D1-D759C81111EB}"/>
              </a:ext>
            </a:extLst>
          </p:cNvPr>
          <p:cNvSpPr/>
          <p:nvPr/>
        </p:nvSpPr>
        <p:spPr>
          <a:xfrm>
            <a:off x="3450566" y="1114691"/>
            <a:ext cx="10064152" cy="8406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Interface/Terminal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8C2CA-A6C4-2189-BCF6-D6618A94D45D}"/>
              </a:ext>
            </a:extLst>
          </p:cNvPr>
          <p:cNvSpPr/>
          <p:nvPr/>
        </p:nvSpPr>
        <p:spPr>
          <a:xfrm>
            <a:off x="1446363" y="4519249"/>
            <a:ext cx="1745411" cy="6997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E695D3-DD97-0E95-4418-8C90461EF157}"/>
              </a:ext>
            </a:extLst>
          </p:cNvPr>
          <p:cNvSpPr/>
          <p:nvPr/>
        </p:nvSpPr>
        <p:spPr>
          <a:xfrm>
            <a:off x="3611592" y="3093014"/>
            <a:ext cx="1745411" cy="6997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Hardware Metadata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22D7AF-4C0C-283A-B226-C03FAD3B5630}"/>
              </a:ext>
            </a:extLst>
          </p:cNvPr>
          <p:cNvSpPr/>
          <p:nvPr/>
        </p:nvSpPr>
        <p:spPr>
          <a:xfrm>
            <a:off x="3600090" y="4519249"/>
            <a:ext cx="1777042" cy="6997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Hardware Stored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12A4B0-A046-98AB-E475-16111119CBB0}"/>
              </a:ext>
            </a:extLst>
          </p:cNvPr>
          <p:cNvSpPr/>
          <p:nvPr/>
        </p:nvSpPr>
        <p:spPr>
          <a:xfrm>
            <a:off x="5920598" y="4516374"/>
            <a:ext cx="1745411" cy="6997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 Stored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09638D-9445-BB50-56AE-08740D33C246}"/>
              </a:ext>
            </a:extLst>
          </p:cNvPr>
          <p:cNvSpPr/>
          <p:nvPr/>
        </p:nvSpPr>
        <p:spPr>
          <a:xfrm>
            <a:off x="8344620" y="4519251"/>
            <a:ext cx="1696527" cy="6997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Acquisition Started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5934EF-871C-5DFD-0078-F802CEF66ED6}"/>
              </a:ext>
            </a:extLst>
          </p:cNvPr>
          <p:cNvSpPr/>
          <p:nvPr/>
        </p:nvSpPr>
        <p:spPr>
          <a:xfrm>
            <a:off x="11516265" y="4522124"/>
            <a:ext cx="1745411" cy="6997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 Started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AC5335-4338-7850-FB0D-2E660948C66B}"/>
              </a:ext>
            </a:extLst>
          </p:cNvPr>
          <p:cNvSpPr/>
          <p:nvPr/>
        </p:nvSpPr>
        <p:spPr>
          <a:xfrm>
            <a:off x="5926346" y="3101640"/>
            <a:ext cx="1745411" cy="6997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 Metadata List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0EA8AD-0C78-C91A-D7DE-36F01D59E956}"/>
              </a:ext>
            </a:extLst>
          </p:cNvPr>
          <p:cNvSpPr/>
          <p:nvPr/>
        </p:nvSpPr>
        <p:spPr>
          <a:xfrm>
            <a:off x="8327364" y="3087262"/>
            <a:ext cx="1745411" cy="6997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Metadata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FF6F85-08C2-D70D-D383-15BFD395F0B1}"/>
              </a:ext>
            </a:extLst>
          </p:cNvPr>
          <p:cNvSpPr/>
          <p:nvPr/>
        </p:nvSpPr>
        <p:spPr>
          <a:xfrm>
            <a:off x="10590360" y="3055632"/>
            <a:ext cx="1745411" cy="6997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  Instructions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1D0415-A6CB-081A-A317-5B64F24293B9}"/>
              </a:ext>
            </a:extLst>
          </p:cNvPr>
          <p:cNvSpPr/>
          <p:nvPr/>
        </p:nvSpPr>
        <p:spPr>
          <a:xfrm>
            <a:off x="12640571" y="3070010"/>
            <a:ext cx="1745411" cy="6997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Profile Event List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6DCD0DD-6EA7-5A6B-C4A2-D92D5DDF66B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484298" y="1966823"/>
            <a:ext cx="0" cy="1126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08ED604-1246-C27D-D1FD-C6F9F8725DE3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>
            <a:off x="4484298" y="3792745"/>
            <a:ext cx="4313" cy="726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A1FD6D4-8EF7-E366-4308-E42182901B29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3191774" y="4869115"/>
            <a:ext cx="408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ADAEBFF-0455-2731-C477-7FC4612E1D3F}"/>
              </a:ext>
            </a:extLst>
          </p:cNvPr>
          <p:cNvCxnSpPr>
            <a:cxnSpLocks/>
            <a:stCxn id="23" idx="3"/>
            <a:endCxn id="32" idx="1"/>
          </p:cNvCxnSpPr>
          <p:nvPr/>
        </p:nvCxnSpPr>
        <p:spPr>
          <a:xfrm flipV="1">
            <a:off x="5377132" y="4866240"/>
            <a:ext cx="543466" cy="2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15D10F4-F05F-4ED8-38DD-7D52A569517D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6799052" y="1938068"/>
            <a:ext cx="0" cy="1163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7F08736-F405-FF91-AC40-97CC7AED892C}"/>
              </a:ext>
            </a:extLst>
          </p:cNvPr>
          <p:cNvCxnSpPr>
            <a:cxnSpLocks/>
            <a:stCxn id="37" idx="2"/>
            <a:endCxn id="32" idx="0"/>
          </p:cNvCxnSpPr>
          <p:nvPr/>
        </p:nvCxnSpPr>
        <p:spPr>
          <a:xfrm flipH="1">
            <a:off x="6793304" y="3801371"/>
            <a:ext cx="5748" cy="715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2B074C5-75EB-C846-1F09-230DDBB67A2C}"/>
              </a:ext>
            </a:extLst>
          </p:cNvPr>
          <p:cNvCxnSpPr>
            <a:cxnSpLocks/>
            <a:stCxn id="38" idx="2"/>
            <a:endCxn id="33" idx="0"/>
          </p:cNvCxnSpPr>
          <p:nvPr/>
        </p:nvCxnSpPr>
        <p:spPr>
          <a:xfrm flipH="1">
            <a:off x="9192884" y="3786993"/>
            <a:ext cx="7186" cy="732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7A56080-6F78-5843-05DD-C6B815A524AD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7666009" y="4866240"/>
            <a:ext cx="678611" cy="2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63DDF50-3553-8D52-B4EE-F1FB625DBE9A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9200070" y="1949570"/>
            <a:ext cx="0" cy="113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7073D722-EEE1-6DEC-DE9B-C1A986A76835}"/>
              </a:ext>
            </a:extLst>
          </p:cNvPr>
          <p:cNvCxnSpPr>
            <a:cxnSpLocks/>
            <a:endCxn id="39" idx="0"/>
          </p:cNvCxnSpPr>
          <p:nvPr/>
        </p:nvCxnSpPr>
        <p:spPr>
          <a:xfrm rot="5400000">
            <a:off x="11392397" y="2037492"/>
            <a:ext cx="1088809" cy="947470"/>
          </a:xfrm>
          <a:prstGeom prst="bentConnector3">
            <a:avLst>
              <a:gd name="adj1" fmla="val 531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5C5714FA-4C54-9077-B0A3-BA2D8FA66C8C}"/>
              </a:ext>
            </a:extLst>
          </p:cNvPr>
          <p:cNvCxnSpPr>
            <a:cxnSpLocks/>
            <a:endCxn id="40" idx="0"/>
          </p:cNvCxnSpPr>
          <p:nvPr/>
        </p:nvCxnSpPr>
        <p:spPr>
          <a:xfrm rot="16200000" flipH="1">
            <a:off x="12410316" y="1967048"/>
            <a:ext cx="1108935" cy="1096987"/>
          </a:xfrm>
          <a:prstGeom prst="bentConnector3">
            <a:avLst>
              <a:gd name="adj1" fmla="val 525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631E0410-7B89-E204-A880-01112997761B}"/>
              </a:ext>
            </a:extLst>
          </p:cNvPr>
          <p:cNvCxnSpPr>
            <a:cxnSpLocks/>
            <a:stCxn id="40" idx="2"/>
            <a:endCxn id="34" idx="0"/>
          </p:cNvCxnSpPr>
          <p:nvPr/>
        </p:nvCxnSpPr>
        <p:spPr>
          <a:xfrm rot="5400000">
            <a:off x="12574933" y="3583779"/>
            <a:ext cx="752383" cy="11243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8C12212C-1427-0D09-0533-74B3996B9B98}"/>
              </a:ext>
            </a:extLst>
          </p:cNvPr>
          <p:cNvCxnSpPr>
            <a:cxnSpLocks/>
            <a:stCxn id="39" idx="2"/>
            <a:endCxn id="34" idx="0"/>
          </p:cNvCxnSpPr>
          <p:nvPr/>
        </p:nvCxnSpPr>
        <p:spPr>
          <a:xfrm rot="16200000" flipH="1">
            <a:off x="11542638" y="3675790"/>
            <a:ext cx="766761" cy="9259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06727476-1F7D-801F-D4D7-74F4059AB8D0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10041147" y="4869117"/>
            <a:ext cx="1475118" cy="2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49BA1543-B6FD-00DD-CD1E-B57C42A751B4}"/>
              </a:ext>
            </a:extLst>
          </p:cNvPr>
          <p:cNvSpPr txBox="1"/>
          <p:nvPr/>
        </p:nvSpPr>
        <p:spPr>
          <a:xfrm>
            <a:off x="3709360" y="5290869"/>
            <a:ext cx="1581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set_hardware</a:t>
            </a:r>
            <a:endParaRPr lang="en-US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15E7C68-85A1-D477-6AB5-43E8A138E37A}"/>
              </a:ext>
            </a:extLst>
          </p:cNvPr>
          <p:cNvSpPr txBox="1"/>
          <p:nvPr/>
        </p:nvSpPr>
        <p:spPr>
          <a:xfrm>
            <a:off x="5886092" y="5276491"/>
            <a:ext cx="190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set_environment</a:t>
            </a:r>
            <a:endParaRPr lang="en-US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E2A687B-D0D4-B94E-AEDA-C6A1FF78DB94}"/>
              </a:ext>
            </a:extLst>
          </p:cNvPr>
          <p:cNvSpPr txBox="1"/>
          <p:nvPr/>
        </p:nvSpPr>
        <p:spPr>
          <a:xfrm>
            <a:off x="8266655" y="5239356"/>
            <a:ext cx="186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start_acquisition</a:t>
            </a:r>
            <a:endParaRPr lang="en-US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1EF7A7A-392B-8221-DBA5-0C847E830689}"/>
              </a:ext>
            </a:extLst>
          </p:cNvPr>
          <p:cNvSpPr txBox="1"/>
          <p:nvPr/>
        </p:nvSpPr>
        <p:spPr>
          <a:xfrm>
            <a:off x="10742762" y="5175850"/>
            <a:ext cx="3709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start_environment</a:t>
            </a:r>
            <a:r>
              <a:rPr lang="en-US" dirty="0"/>
              <a:t> (instruction)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1D4B28D-C91D-C49A-A84A-10C0E4A806E9}"/>
              </a:ext>
            </a:extLst>
          </p:cNvPr>
          <p:cNvSpPr txBox="1"/>
          <p:nvPr/>
        </p:nvSpPr>
        <p:spPr>
          <a:xfrm>
            <a:off x="10276114" y="5417308"/>
            <a:ext cx="416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start_profile</a:t>
            </a:r>
            <a:r>
              <a:rPr lang="en-US" dirty="0"/>
              <a:t>(</a:t>
            </a:r>
            <a:r>
              <a:rPr lang="en-US" dirty="0" err="1"/>
              <a:t>instruction_list</a:t>
            </a:r>
            <a:r>
              <a:rPr lang="en-US" dirty="0"/>
              <a:t>, </a:t>
            </a:r>
            <a:r>
              <a:rPr lang="en-US" dirty="0" err="1"/>
              <a:t>event_list</a:t>
            </a:r>
            <a:r>
              <a:rPr lang="en-US" dirty="0"/>
              <a:t>)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798C9D3-133A-207F-2F47-B7C9EC0C80EA}"/>
              </a:ext>
            </a:extLst>
          </p:cNvPr>
          <p:cNvSpPr txBox="1"/>
          <p:nvPr/>
        </p:nvSpPr>
        <p:spPr>
          <a:xfrm>
            <a:off x="7108002" y="6091234"/>
            <a:ext cx="1880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Rattlesnake</a:t>
            </a:r>
          </a:p>
        </p:txBody>
      </p: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63FE7E01-E2B3-3DAA-B2CA-2DE294583022}"/>
              </a:ext>
            </a:extLst>
          </p:cNvPr>
          <p:cNvCxnSpPr>
            <a:cxnSpLocks/>
            <a:endCxn id="2" idx="1"/>
          </p:cNvCxnSpPr>
          <p:nvPr/>
        </p:nvCxnSpPr>
        <p:spPr>
          <a:xfrm rot="5400000" flipH="1" flipV="1">
            <a:off x="1534843" y="2360187"/>
            <a:ext cx="2740903" cy="10905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7EAB1D6F-B612-950D-987E-D397ACEB7109}"/>
              </a:ext>
            </a:extLst>
          </p:cNvPr>
          <p:cNvSpPr txBox="1"/>
          <p:nvPr/>
        </p:nvSpPr>
        <p:spPr>
          <a:xfrm>
            <a:off x="1262743" y="1158241"/>
            <a:ext cx="21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gui_update_queue</a:t>
            </a:r>
            <a:endParaRPr lang="en-US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9F1A1CE-C2B9-A706-094F-72069B7D3AD9}"/>
              </a:ext>
            </a:extLst>
          </p:cNvPr>
          <p:cNvSpPr txBox="1"/>
          <p:nvPr/>
        </p:nvSpPr>
        <p:spPr>
          <a:xfrm>
            <a:off x="11465740" y="5677331"/>
            <a:ext cx="186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start_system_id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A79097-A432-CE64-0946-8B0BB8A2F09B}"/>
              </a:ext>
            </a:extLst>
          </p:cNvPr>
          <p:cNvSpPr/>
          <p:nvPr/>
        </p:nvSpPr>
        <p:spPr>
          <a:xfrm>
            <a:off x="3508322" y="6680208"/>
            <a:ext cx="3850421" cy="16190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During Init/Hardware/Environment, Rattlesnake manually sends commands to Acquisition, Output, and </a:t>
            </a:r>
            <a:r>
              <a:rPr lang="en-US" dirty="0" err="1">
                <a:solidFill>
                  <a:schemeClr val="tx1"/>
                </a:solidFill>
              </a:rPr>
              <a:t>Enviornments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F34836-EEA4-1325-21BC-1C8E1609BBE8}"/>
              </a:ext>
            </a:extLst>
          </p:cNvPr>
          <p:cNvSpPr/>
          <p:nvPr/>
        </p:nvSpPr>
        <p:spPr>
          <a:xfrm>
            <a:off x="9321292" y="6675853"/>
            <a:ext cx="3850421" cy="16190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Once Acquisition starts, Rattlesnake will send commands to  Controller which is responsible for stream logic, environment startups, and shutdown</a:t>
            </a:r>
          </a:p>
        </p:txBody>
      </p:sp>
    </p:spTree>
    <p:extLst>
      <p:ext uri="{BB962C8B-B14F-4D97-AF65-F5344CB8AC3E}">
        <p14:creationId xmlns:p14="http://schemas.microsoft.com/office/powerpoint/2010/main" val="153858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7DB9A-EE16-8065-A961-1C715585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6326-1094-7AC0-6EC6-A7F7CBBD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Rattlesnake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9E59-A81E-7210-A937-484753739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dirty="0"/>
              <a:t>Rattlesnake() is the main object that everything should communicate through</a:t>
            </a:r>
          </a:p>
          <a:p>
            <a:r>
              <a:rPr lang="en-US" sz="3500" dirty="0"/>
              <a:t>UI should share object and use it instead of command queues</a:t>
            </a:r>
          </a:p>
          <a:p>
            <a:r>
              <a:rPr lang="en-US" sz="3500" dirty="0"/>
              <a:t>Rattlesnake() outputs data through </a:t>
            </a:r>
            <a:r>
              <a:rPr lang="en-US" sz="3500" dirty="0" err="1"/>
              <a:t>gui_update_queue</a:t>
            </a:r>
            <a:endParaRPr lang="en-US" sz="3500" dirty="0"/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dirty="0"/>
              <a:t>Rattlesnake has 5 states</a:t>
            </a:r>
          </a:p>
          <a:p>
            <a:r>
              <a:rPr lang="en-US" sz="3500" dirty="0"/>
              <a:t>Init, </a:t>
            </a:r>
            <a:r>
              <a:rPr lang="en-US" sz="3500" dirty="0" err="1"/>
              <a:t>Hardware_Store</a:t>
            </a:r>
            <a:r>
              <a:rPr lang="en-US" sz="3500" dirty="0"/>
              <a:t>, </a:t>
            </a:r>
            <a:r>
              <a:rPr lang="en-US" sz="3500" dirty="0" err="1"/>
              <a:t>Environment_Store</a:t>
            </a:r>
            <a:r>
              <a:rPr lang="en-US" sz="3500" dirty="0"/>
              <a:t>, </a:t>
            </a:r>
            <a:r>
              <a:rPr lang="en-US" sz="3500" dirty="0" err="1"/>
              <a:t>Hardware_Active</a:t>
            </a:r>
            <a:r>
              <a:rPr lang="en-US" sz="3500" dirty="0"/>
              <a:t>, </a:t>
            </a:r>
            <a:r>
              <a:rPr lang="en-US" sz="3500" dirty="0" err="1"/>
              <a:t>Environment_Active</a:t>
            </a:r>
            <a:endParaRPr lang="en-US" sz="3500" dirty="0"/>
          </a:p>
          <a:p>
            <a:r>
              <a:rPr lang="en-US" sz="3500" dirty="0"/>
              <a:t>These states are checked before moving onto new states</a:t>
            </a:r>
          </a:p>
        </p:txBody>
      </p:sp>
    </p:spTree>
    <p:extLst>
      <p:ext uri="{BB962C8B-B14F-4D97-AF65-F5344CB8AC3E}">
        <p14:creationId xmlns:p14="http://schemas.microsoft.com/office/powerpoint/2010/main" val="1882025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6369B-BCB7-E1CC-0EB3-3EA27D87A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B463-8940-1FA0-0CEF-00BC91260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Rattlesnake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BB212-0652-6B73-1856-ABA2C676E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dirty="0"/>
              <a:t>The main functions of Rattlesnake() follow this format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/>
              <a:t>Check if Rattlesnake is in a valid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/>
              <a:t>Validate input into function (metadata)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/>
              <a:t>Clear ready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/>
              <a:t>Send data to correct queues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/>
              <a:t>Await ready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/>
              <a:t>Update state</a:t>
            </a:r>
          </a:p>
          <a:p>
            <a:pPr marL="514350" indent="-514350">
              <a:buFont typeface="+mj-lt"/>
              <a:buAutoNum type="arabicPeriod"/>
            </a:pP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784123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A599D-8ED6-C429-013E-2ACF8895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08A1-D67A-2B0E-5171-FB3DEDE8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BA9E-C322-2DEA-8D2C-D50B6C5EE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dirty="0"/>
              <a:t>There are 3 types of events Rattlesnake uses to enforce valid states</a:t>
            </a:r>
          </a:p>
          <a:p>
            <a:r>
              <a:rPr lang="en-US" sz="3500" dirty="0"/>
              <a:t>Close events</a:t>
            </a:r>
          </a:p>
          <a:p>
            <a:pPr lvl="1"/>
            <a:r>
              <a:rPr lang="en-US" sz="2967" dirty="0"/>
              <a:t>Required for clean shutdown of threaded processes</a:t>
            </a:r>
          </a:p>
          <a:p>
            <a:r>
              <a:rPr lang="en-US" sz="3500" dirty="0"/>
              <a:t>Ready events</a:t>
            </a:r>
          </a:p>
          <a:p>
            <a:pPr lvl="1"/>
            <a:r>
              <a:rPr lang="en-US" sz="2967" dirty="0"/>
              <a:t>These are cleared before sending data and set once the process has sent the data</a:t>
            </a:r>
          </a:p>
          <a:p>
            <a:r>
              <a:rPr lang="en-US" sz="3500" dirty="0"/>
              <a:t>Active events</a:t>
            </a:r>
          </a:p>
          <a:p>
            <a:pPr lvl="1"/>
            <a:r>
              <a:rPr lang="en-US" sz="2967" dirty="0"/>
              <a:t>These are set by environments/acquisition/output processes when they are taking data and cleared when they shutdown</a:t>
            </a:r>
          </a:p>
          <a:p>
            <a:pPr lvl="1"/>
            <a:r>
              <a:rPr lang="en-US" sz="2967" dirty="0"/>
              <a:t>Replace </a:t>
            </a:r>
            <a:r>
              <a:rPr lang="en-US" sz="2967" dirty="0" err="1"/>
              <a:t>acquisition_active</a:t>
            </a:r>
            <a:r>
              <a:rPr lang="en-US" sz="2967" dirty="0"/>
              <a:t>/</a:t>
            </a:r>
            <a:r>
              <a:rPr lang="en-US" sz="2967" dirty="0" err="1"/>
              <a:t>output_active</a:t>
            </a:r>
            <a:r>
              <a:rPr lang="en-US" sz="2967" dirty="0"/>
              <a:t>. This is just a </a:t>
            </a:r>
            <a:r>
              <a:rPr lang="en-US" sz="2967" dirty="0" err="1"/>
              <a:t>mp.Value</a:t>
            </a:r>
            <a:r>
              <a:rPr lang="en-US" sz="2967" dirty="0"/>
              <a:t> but returns a bool so there is no syntax change at all.</a:t>
            </a:r>
          </a:p>
        </p:txBody>
      </p:sp>
    </p:spTree>
    <p:extLst>
      <p:ext uri="{BB962C8B-B14F-4D97-AF65-F5344CB8AC3E}">
        <p14:creationId xmlns:p14="http://schemas.microsoft.com/office/powerpoint/2010/main" val="2577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A09D4-8A20-9469-7525-C16E831F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F323-AF1F-9848-B3FD-03163430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A7088-AC17-1F33-5C16-1111C76D3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6422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dirty="0"/>
              <a:t>The default state for Rattlesnake is blocking=True, timeout=60.</a:t>
            </a:r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dirty="0"/>
              <a:t>Blocking waits for </a:t>
            </a:r>
            <a:r>
              <a:rPr lang="en-US" sz="3500" dirty="0" err="1"/>
              <a:t>ready_events</a:t>
            </a:r>
            <a:r>
              <a:rPr lang="en-US" sz="3500" dirty="0"/>
              <a:t> and </a:t>
            </a:r>
            <a:r>
              <a:rPr lang="en-US" sz="3500" dirty="0" err="1"/>
              <a:t>active_events</a:t>
            </a:r>
            <a:r>
              <a:rPr lang="en-US" sz="3500" dirty="0"/>
              <a:t> before moving onto next command</a:t>
            </a:r>
          </a:p>
          <a:p>
            <a:r>
              <a:rPr lang="en-US" sz="3500" dirty="0"/>
              <a:t>Will throw a timeout error if events are not set in time</a:t>
            </a:r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dirty="0"/>
              <a:t>Blocking=False is used when running from a UI</a:t>
            </a:r>
          </a:p>
          <a:p>
            <a:r>
              <a:rPr lang="en-US" sz="3500" dirty="0"/>
              <a:t>Allows </a:t>
            </a:r>
            <a:r>
              <a:rPr lang="en-US" sz="3500" dirty="0" err="1"/>
              <a:t>UI._exec</a:t>
            </a:r>
            <a:r>
              <a:rPr lang="en-US" sz="3500" dirty="0"/>
              <a:t>() to work correctly</a:t>
            </a:r>
          </a:p>
          <a:p>
            <a:r>
              <a:rPr lang="en-US" sz="3500" dirty="0"/>
              <a:t>The main UI will enforce </a:t>
            </a:r>
            <a:r>
              <a:rPr lang="en-US" sz="3500" dirty="0" err="1"/>
              <a:t>ready_events</a:t>
            </a:r>
            <a:r>
              <a:rPr lang="en-US" sz="3500" dirty="0"/>
              <a:t> and </a:t>
            </a:r>
            <a:r>
              <a:rPr lang="en-US" sz="3500" dirty="0" err="1"/>
              <a:t>active_events</a:t>
            </a:r>
            <a:r>
              <a:rPr lang="en-US" sz="3500" dirty="0"/>
              <a:t> with signals</a:t>
            </a:r>
          </a:p>
          <a:p>
            <a:r>
              <a:rPr lang="en-US" sz="3500" dirty="0"/>
              <a:t>Rattlesnake states will still work as intended</a:t>
            </a:r>
            <a:endParaRPr lang="en-US" sz="2967" dirty="0"/>
          </a:p>
        </p:txBody>
      </p:sp>
    </p:spTree>
    <p:extLst>
      <p:ext uri="{BB962C8B-B14F-4D97-AF65-F5344CB8AC3E}">
        <p14:creationId xmlns:p14="http://schemas.microsoft.com/office/powerpoint/2010/main" val="99087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C32C-268C-0947-ED00-4AB08D62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E2C3-6766-66BE-349B-A21E6896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08FD4-EE82-78AE-4C55-141681AE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6422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Controller process replaces </a:t>
            </a:r>
            <a:r>
              <a:rPr lang="en-US" sz="3000" dirty="0" err="1"/>
              <a:t>handle_controller_instructions</a:t>
            </a:r>
            <a:endParaRPr lang="en-US" sz="3000" dirty="0"/>
          </a:p>
          <a:p>
            <a:r>
              <a:rPr lang="en-US" sz="3000" dirty="0"/>
              <a:t>Controller should be used for everything happening during hardware acquisition</a:t>
            </a:r>
          </a:p>
          <a:p>
            <a:r>
              <a:rPr lang="en-US" sz="3000" dirty="0"/>
              <a:t>Controller is responsible for enforcing valid commands during these states to avoid crashes</a:t>
            </a:r>
          </a:p>
          <a:p>
            <a:pPr lvl="1"/>
            <a:r>
              <a:rPr lang="en-US" sz="3000" dirty="0"/>
              <a:t>Checks events to avoid starting environments that are already running</a:t>
            </a:r>
          </a:p>
          <a:p>
            <a:r>
              <a:rPr lang="en-US" sz="3000" dirty="0"/>
              <a:t>Controller is responsible for enforcing streaming</a:t>
            </a:r>
          </a:p>
          <a:p>
            <a:pPr lvl="1"/>
            <a:r>
              <a:rPr lang="en-US" sz="3000" dirty="0" err="1"/>
              <a:t>Stream_from_profile_event</a:t>
            </a:r>
            <a:r>
              <a:rPr lang="en-US" sz="3000" dirty="0"/>
              <a:t>, </a:t>
            </a:r>
            <a:r>
              <a:rPr lang="en-US" sz="3000" dirty="0" err="1"/>
              <a:t>Stream_immediately</a:t>
            </a:r>
            <a:r>
              <a:rPr lang="en-US" sz="30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606332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9EF1-75BE-D53D-13D4-66677339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A5B88-1554-5965-125A-E661DC5A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61003-E81B-1145-184C-98A361461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6422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Environments have 2 main metadata objects: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 err="1"/>
              <a:t>EnvironmentMetadata</a:t>
            </a:r>
            <a:r>
              <a:rPr lang="en-US" sz="3000" dirty="0"/>
              <a:t>:</a:t>
            </a:r>
          </a:p>
          <a:p>
            <a:r>
              <a:rPr lang="en-US" sz="3000" dirty="0"/>
              <a:t>Contains everything that needs to be stored during </a:t>
            </a:r>
            <a:r>
              <a:rPr lang="en-US" sz="3000" dirty="0" err="1"/>
              <a:t>initialize_environment</a:t>
            </a:r>
            <a:r>
              <a:rPr lang="en-US" sz="3000" dirty="0"/>
              <a:t>()</a:t>
            </a:r>
          </a:p>
          <a:p>
            <a:r>
              <a:rPr lang="en-US" sz="3000" dirty="0"/>
              <a:t>Contains </a:t>
            </a:r>
            <a:r>
              <a:rPr lang="en-US" sz="3000" dirty="0" err="1"/>
              <a:t>channel_list</a:t>
            </a:r>
            <a:r>
              <a:rPr lang="en-US" sz="3000" dirty="0"/>
              <a:t> of channels in that environment</a:t>
            </a:r>
          </a:p>
          <a:p>
            <a:endParaRPr lang="en-US" sz="3000" dirty="0"/>
          </a:p>
          <a:p>
            <a:pPr marL="0" indent="0">
              <a:buNone/>
            </a:pPr>
            <a:r>
              <a:rPr lang="en-US" sz="3000" dirty="0" err="1"/>
              <a:t>EnvironmentInstructions</a:t>
            </a:r>
            <a:r>
              <a:rPr lang="en-US" sz="3000" dirty="0"/>
              <a:t>:</a:t>
            </a:r>
          </a:p>
          <a:p>
            <a:r>
              <a:rPr lang="en-US" sz="3000" dirty="0"/>
              <a:t>This is sent to controller </a:t>
            </a:r>
            <a:r>
              <a:rPr lang="en-US" sz="3000" dirty="0" err="1"/>
              <a:t>duing</a:t>
            </a:r>
            <a:r>
              <a:rPr lang="en-US" sz="3000" dirty="0"/>
              <a:t> </a:t>
            </a:r>
            <a:r>
              <a:rPr lang="en-US" sz="3000" dirty="0" err="1"/>
              <a:t>start_environment</a:t>
            </a:r>
            <a:r>
              <a:rPr lang="en-US" sz="3000" dirty="0"/>
              <a:t>(). Contains information that needs to be changed on the fly/in the run tab</a:t>
            </a:r>
          </a:p>
          <a:p>
            <a:pPr lvl="1"/>
            <a:r>
              <a:rPr lang="en-US" sz="3000" dirty="0"/>
              <a:t>Test level, repeat signals, etc.</a:t>
            </a:r>
          </a:p>
        </p:txBody>
      </p:sp>
    </p:spTree>
    <p:extLst>
      <p:ext uri="{BB962C8B-B14F-4D97-AF65-F5344CB8AC3E}">
        <p14:creationId xmlns:p14="http://schemas.microsoft.com/office/powerpoint/2010/main" val="3136087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D042D-CFFA-FC93-E3DF-014B61FD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BA75-FB35-7628-B03A-2909F5A07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530" y="170532"/>
            <a:ext cx="15773400" cy="1767417"/>
          </a:xfrm>
        </p:spPr>
        <p:txBody>
          <a:bodyPr/>
          <a:lstStyle/>
          <a:p>
            <a:r>
              <a:rPr lang="en-US" dirty="0" err="1"/>
              <a:t>EnvironmentManager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6485E-EC91-6369-6100-7815F420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764" y="1882076"/>
            <a:ext cx="15773400" cy="67845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dirty="0"/>
              <a:t>Owned by Rattlesnake(). Deals with startup/shutdown of environment processes.</a:t>
            </a:r>
          </a:p>
          <a:p>
            <a:r>
              <a:rPr lang="en-US" sz="3000" dirty="0"/>
              <a:t>Mainly a separate file to avoid crowding main process with a bunch of environment logic</a:t>
            </a:r>
          </a:p>
          <a:p>
            <a:r>
              <a:rPr lang="en-US" sz="3000" dirty="0"/>
              <a:t>The environment manager is responsible for spinning up and shutting down environment processes</a:t>
            </a:r>
          </a:p>
          <a:p>
            <a:pPr marL="1123935" lvl="1" indent="-514350">
              <a:buFont typeface="+mj-lt"/>
              <a:buAutoNum type="arabicPeriod"/>
            </a:pPr>
            <a:r>
              <a:rPr lang="en-US" sz="3000" dirty="0" err="1"/>
              <a:t>Recieves</a:t>
            </a:r>
            <a:r>
              <a:rPr lang="en-US" sz="3000" dirty="0"/>
              <a:t> list of environment metadata</a:t>
            </a:r>
          </a:p>
          <a:p>
            <a:pPr marL="1123935" lvl="1" indent="-514350">
              <a:buFont typeface="+mj-lt"/>
              <a:buAutoNum type="arabicPeriod"/>
            </a:pPr>
            <a:r>
              <a:rPr lang="en-US" sz="3000" dirty="0"/>
              <a:t>Checks list against existing environments</a:t>
            </a:r>
          </a:p>
          <a:p>
            <a:pPr marL="1123935" lvl="1" indent="-514350">
              <a:buFont typeface="+mj-lt"/>
              <a:buAutoNum type="arabicPeriod"/>
            </a:pPr>
            <a:r>
              <a:rPr lang="en-US" sz="3000" dirty="0"/>
              <a:t>Assigns queues/builds environments/</a:t>
            </a:r>
            <a:r>
              <a:rPr lang="en-US" sz="3000" dirty="0" err="1"/>
              <a:t>shutsdown</a:t>
            </a:r>
            <a:r>
              <a:rPr lang="en-US" sz="3000" dirty="0"/>
              <a:t> environments to match environment list</a:t>
            </a:r>
          </a:p>
          <a:p>
            <a:pPr marL="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77946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F64E-3146-EE45-DD64-E6FD11EC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A4F2-56F1-72B8-08D0-40A4B9209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530" y="170532"/>
            <a:ext cx="15773400" cy="1767417"/>
          </a:xfrm>
        </p:spPr>
        <p:txBody>
          <a:bodyPr/>
          <a:lstStyle/>
          <a:p>
            <a:r>
              <a:rPr lang="en-US" dirty="0" err="1"/>
              <a:t>Queue_names</a:t>
            </a:r>
            <a:r>
              <a:rPr lang="en-US" dirty="0"/>
              <a:t> vs </a:t>
            </a:r>
            <a:r>
              <a:rPr lang="en-US" dirty="0" err="1"/>
              <a:t>Environment_names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A334A-9C5C-6FDE-5D4A-908CBB171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764" y="1882076"/>
            <a:ext cx="15773400" cy="67845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dirty="0"/>
              <a:t>I decided to initialize a set number of </a:t>
            </a:r>
            <a:r>
              <a:rPr lang="en-US" sz="3000" dirty="0" err="1"/>
              <a:t>environment_command_queues</a:t>
            </a:r>
            <a:r>
              <a:rPr lang="en-US" sz="3000" dirty="0"/>
              <a:t> at startup</a:t>
            </a:r>
          </a:p>
          <a:p>
            <a:r>
              <a:rPr lang="en-US" sz="3000" dirty="0"/>
              <a:t>Can adaptively assign them but it slows down </a:t>
            </a:r>
            <a:r>
              <a:rPr lang="en-US" sz="3000" dirty="0" err="1"/>
              <a:t>queue.get</a:t>
            </a:r>
            <a:r>
              <a:rPr lang="en-US" sz="3000" dirty="0"/>
              <a:t> considerably</a:t>
            </a:r>
          </a:p>
          <a:p>
            <a:r>
              <a:rPr lang="en-US" sz="3000" dirty="0"/>
              <a:t>Because of this </a:t>
            </a:r>
            <a:r>
              <a:rPr lang="en-US" sz="3000" dirty="0" err="1"/>
              <a:t>queue_names</a:t>
            </a:r>
            <a:r>
              <a:rPr lang="en-US" sz="3000" dirty="0"/>
              <a:t> are set at startup (“Environment 0”, “Environment 1”, etc.)</a:t>
            </a:r>
          </a:p>
          <a:p>
            <a:r>
              <a:rPr lang="en-US" sz="3000" dirty="0" err="1"/>
              <a:t>Queue_names</a:t>
            </a:r>
            <a:r>
              <a:rPr lang="en-US" sz="3000" dirty="0"/>
              <a:t> are used for anything in the backend (Rattlesnake processes)</a:t>
            </a:r>
          </a:p>
          <a:p>
            <a:pPr lvl="1"/>
            <a:r>
              <a:rPr lang="en-US" sz="3000" dirty="0"/>
              <a:t>Used for dictionaries mainly (</a:t>
            </a:r>
            <a:r>
              <a:rPr lang="en-US" sz="3000" dirty="0" err="1"/>
              <a:t>environment_command_queues</a:t>
            </a:r>
            <a:r>
              <a:rPr lang="en-US" sz="3000" dirty="0"/>
              <a:t>[</a:t>
            </a:r>
            <a:r>
              <a:rPr lang="en-US" sz="3000" dirty="0" err="1"/>
              <a:t>queue_name</a:t>
            </a:r>
            <a:r>
              <a:rPr lang="en-US" sz="3000" dirty="0"/>
              <a:t>], </a:t>
            </a:r>
            <a:r>
              <a:rPr lang="en-US" sz="3000" dirty="0" err="1"/>
              <a:t>environment_data_in_queues</a:t>
            </a:r>
            <a:r>
              <a:rPr lang="en-US" sz="3000" dirty="0"/>
              <a:t>[</a:t>
            </a:r>
            <a:r>
              <a:rPr lang="en-US" sz="3000" dirty="0" err="1"/>
              <a:t>queue_name</a:t>
            </a:r>
            <a:r>
              <a:rPr lang="en-US" sz="3000" dirty="0"/>
              <a:t>], etc.</a:t>
            </a:r>
          </a:p>
          <a:p>
            <a:endParaRPr lang="en-US" sz="3000" dirty="0"/>
          </a:p>
          <a:p>
            <a:r>
              <a:rPr lang="en-US" sz="3000" dirty="0" err="1"/>
              <a:t>Environment_names</a:t>
            </a:r>
            <a:r>
              <a:rPr lang="en-US" sz="3000" dirty="0"/>
              <a:t> still exist and are set with the </a:t>
            </a:r>
            <a:r>
              <a:rPr lang="en-US" sz="3000" dirty="0" err="1"/>
              <a:t>environment_metadata</a:t>
            </a:r>
            <a:r>
              <a:rPr lang="en-US" sz="3000" dirty="0"/>
              <a:t> object.</a:t>
            </a:r>
          </a:p>
          <a:p>
            <a:pPr lvl="1"/>
            <a:r>
              <a:rPr lang="en-US" sz="3000" dirty="0"/>
              <a:t>I got these to work in log file so even the log file will use </a:t>
            </a:r>
            <a:r>
              <a:rPr lang="en-US" sz="3000" dirty="0" err="1"/>
              <a:t>environment_names</a:t>
            </a:r>
            <a:r>
              <a:rPr lang="en-US" sz="3000" dirty="0"/>
              <a:t> for tracking</a:t>
            </a:r>
          </a:p>
          <a:p>
            <a:r>
              <a:rPr lang="en-US" sz="3000" dirty="0"/>
              <a:t>Anything in the </a:t>
            </a:r>
            <a:r>
              <a:rPr lang="en-US" sz="3000" dirty="0" err="1"/>
              <a:t>front_end</a:t>
            </a:r>
            <a:r>
              <a:rPr lang="en-US" sz="3000" dirty="0"/>
              <a:t> (UI) dealing with environments will use the </a:t>
            </a:r>
            <a:r>
              <a:rPr lang="en-US" sz="3000" dirty="0" err="1"/>
              <a:t>environment_name</a:t>
            </a:r>
            <a:r>
              <a:rPr lang="en-US" sz="3000" dirty="0"/>
              <a:t> from the metadata object</a:t>
            </a:r>
          </a:p>
          <a:p>
            <a:pPr lvl="1"/>
            <a:r>
              <a:rPr lang="en-US" sz="3000" dirty="0"/>
              <a:t>Start environment, Profile events, Instructions, Metadata, etc.</a:t>
            </a:r>
          </a:p>
          <a:p>
            <a:pPr lvl="1"/>
            <a:r>
              <a:rPr lang="en-US" sz="3000" dirty="0"/>
              <a:t>Front end should not know </a:t>
            </a:r>
            <a:r>
              <a:rPr lang="en-US" sz="3000" dirty="0" err="1"/>
              <a:t>queue_names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575978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CBEF-D909-F3FC-299B-A2E3461B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CF5A-473C-D9CE-536F-D40B2286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0FCB6-9517-AF45-A242-95D3F7B8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6370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Profiles are set by building a list of profile events</a:t>
            </a:r>
          </a:p>
          <a:p>
            <a:r>
              <a:rPr lang="en-US" sz="3000" dirty="0"/>
              <a:t>Contain timestep, command, </a:t>
            </a:r>
            <a:r>
              <a:rPr lang="en-US" sz="3000" dirty="0" err="1"/>
              <a:t>environment_name</a:t>
            </a:r>
            <a:r>
              <a:rPr lang="en-US" sz="3000" dirty="0"/>
              <a:t>, data</a:t>
            </a:r>
          </a:p>
          <a:p>
            <a:pPr lvl="1"/>
            <a:r>
              <a:rPr lang="en-US" sz="3000" dirty="0" err="1"/>
              <a:t>Environment_name</a:t>
            </a:r>
            <a:r>
              <a:rPr lang="en-US" sz="3000" dirty="0"/>
              <a:t> is the frontend name, “Global” for global commands (streaming/hardware)</a:t>
            </a:r>
          </a:p>
          <a:p>
            <a:pPr lvl="1"/>
            <a:r>
              <a:rPr lang="en-US" sz="3000" dirty="0"/>
              <a:t>Data is only required by a some functions</a:t>
            </a:r>
          </a:p>
          <a:p>
            <a:r>
              <a:rPr lang="en-US" sz="3000" dirty="0"/>
              <a:t>Profile events are fired using </a:t>
            </a:r>
            <a:r>
              <a:rPr lang="en-US" sz="3000" dirty="0" err="1"/>
              <a:t>threading.timer</a:t>
            </a:r>
            <a:r>
              <a:rPr lang="en-US" sz="3000" dirty="0"/>
              <a:t>() instead of qt timer()</a:t>
            </a:r>
          </a:p>
          <a:p>
            <a:pPr lvl="1"/>
            <a:r>
              <a:rPr lang="en-US" sz="3000" dirty="0" err="1"/>
              <a:t>Threading.timer</a:t>
            </a:r>
            <a:r>
              <a:rPr lang="en-US" sz="3000" dirty="0"/>
              <a:t> has the same </a:t>
            </a:r>
            <a:r>
              <a:rPr lang="en-US" sz="3000" dirty="0" err="1"/>
              <a:t>sytax</a:t>
            </a:r>
            <a:r>
              <a:rPr lang="en-US" sz="3000" dirty="0"/>
              <a:t> as previous timers so it is just a direct replacement</a:t>
            </a:r>
          </a:p>
          <a:p>
            <a:r>
              <a:rPr lang="en-US" sz="3000" dirty="0"/>
              <a:t>Events are verified/fired by </a:t>
            </a:r>
            <a:r>
              <a:rPr lang="en-US" sz="3000" dirty="0" err="1"/>
              <a:t>ProfileManager</a:t>
            </a:r>
            <a:endParaRPr lang="en-US" sz="30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67060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6909-334E-E327-D7C4-891BFC4F7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DC00-D3FC-A971-853E-61564FAB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ProfileManager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8D22D-8E6D-2A2B-1085-A4020E6F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920815"/>
            <a:ext cx="15773400" cy="6883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The profile manager is responsible for validating profile events and firing/stopping the timers.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Start_profile</a:t>
            </a:r>
            <a:r>
              <a:rPr lang="en-US" sz="2800" dirty="0"/>
              <a:t>() requires a list of </a:t>
            </a:r>
            <a:r>
              <a:rPr lang="en-US" sz="2800" dirty="0" err="1"/>
              <a:t>environment_instructions</a:t>
            </a:r>
            <a:r>
              <a:rPr lang="en-US" sz="2800" dirty="0"/>
              <a:t> and </a:t>
            </a:r>
            <a:r>
              <a:rPr lang="en-US" sz="2800" dirty="0" err="1"/>
              <a:t>profile_events</a:t>
            </a:r>
            <a:endParaRPr lang="en-US" sz="2800" dirty="0"/>
          </a:p>
          <a:p>
            <a:r>
              <a:rPr lang="en-US" sz="2800" dirty="0"/>
              <a:t>Environment instructions are optional. If they don’t exist, the first </a:t>
            </a:r>
            <a:r>
              <a:rPr lang="en-US" sz="2800" dirty="0" err="1"/>
              <a:t>start_environment</a:t>
            </a:r>
            <a:r>
              <a:rPr lang="en-US" sz="2800" dirty="0"/>
              <a:t> command will be fired with None as the datatype</a:t>
            </a:r>
          </a:p>
          <a:p>
            <a:r>
              <a:rPr lang="en-US" sz="2800" dirty="0"/>
              <a:t>If you use a profile event that requires an instruction, it is enforced that you have an instruction for that environment</a:t>
            </a:r>
          </a:p>
          <a:p>
            <a:pPr lvl="1"/>
            <a:r>
              <a:rPr lang="en-US" sz="2800" dirty="0"/>
              <a:t>Ex: </a:t>
            </a:r>
            <a:r>
              <a:rPr lang="en-US" sz="2800" dirty="0" err="1"/>
              <a:t>set_test_level</a:t>
            </a:r>
            <a:r>
              <a:rPr lang="en-US" sz="2800" dirty="0"/>
              <a:t> requires an object to set a </a:t>
            </a:r>
            <a:r>
              <a:rPr lang="en-US" sz="2800" dirty="0" err="1"/>
              <a:t>test_level</a:t>
            </a:r>
            <a:r>
              <a:rPr lang="en-US" sz="2800" dirty="0"/>
              <a:t> to.</a:t>
            </a:r>
          </a:p>
          <a:p>
            <a:r>
              <a:rPr lang="en-US" sz="2800" dirty="0"/>
              <a:t>Environment instructions require </a:t>
            </a:r>
            <a:r>
              <a:rPr lang="en-US" sz="2800" dirty="0" err="1"/>
              <a:t>environment_name</a:t>
            </a:r>
            <a:r>
              <a:rPr lang="en-US" sz="2800" dirty="0"/>
              <a:t> (frontend) and </a:t>
            </a:r>
            <a:r>
              <a:rPr lang="en-US" sz="2800" dirty="0" err="1"/>
              <a:t>environment_type</a:t>
            </a:r>
            <a:r>
              <a:rPr lang="en-US" sz="2800" dirty="0"/>
              <a:t> for validation purposes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Manager is also the new home for profile event functions. (</a:t>
            </a:r>
            <a:r>
              <a:rPr lang="en-US" sz="2800" dirty="0" err="1"/>
              <a:t>Time.Set_Test_Level</a:t>
            </a:r>
            <a:r>
              <a:rPr lang="en-US" sz="2800" dirty="0"/>
              <a:t>)</a:t>
            </a:r>
          </a:p>
          <a:p>
            <a:r>
              <a:rPr lang="en-US" sz="2800" dirty="0"/>
              <a:t>If Environment has a unique function, must be added to controller functions and mapped accordingly</a:t>
            </a:r>
          </a:p>
        </p:txBody>
      </p:sp>
    </p:spTree>
    <p:extLst>
      <p:ext uri="{BB962C8B-B14F-4D97-AF65-F5344CB8AC3E}">
        <p14:creationId xmlns:p14="http://schemas.microsoft.com/office/powerpoint/2010/main" val="372735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2B81-6B5C-B9BD-0305-2BA3A1D3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758DE65A-2CE1-5694-930F-5313D6363FA2}"/>
              </a:ext>
            </a:extLst>
          </p:cNvPr>
          <p:cNvSpPr/>
          <p:nvPr/>
        </p:nvSpPr>
        <p:spPr>
          <a:xfrm>
            <a:off x="5773400" y="3796936"/>
            <a:ext cx="10354874" cy="10885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82A4E-ADDA-2F5C-1915-650E8AE7732D}"/>
              </a:ext>
            </a:extLst>
          </p:cNvPr>
          <p:cNvSpPr/>
          <p:nvPr/>
        </p:nvSpPr>
        <p:spPr>
          <a:xfrm>
            <a:off x="8354838" y="1405112"/>
            <a:ext cx="1795549" cy="5430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Rattlesnake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2792190-BFBC-BEF5-58BE-AE354BF5C61A}"/>
              </a:ext>
            </a:extLst>
          </p:cNvPr>
          <p:cNvCxnSpPr>
            <a:cxnSpLocks/>
            <a:stCxn id="43" idx="0"/>
            <a:endCxn id="8" idx="2"/>
          </p:cNvCxnSpPr>
          <p:nvPr/>
        </p:nvCxnSpPr>
        <p:spPr>
          <a:xfrm rot="5400000" flipH="1" flipV="1">
            <a:off x="7037819" y="1810906"/>
            <a:ext cx="2077489" cy="2352100"/>
          </a:xfrm>
          <a:prstGeom prst="bentConnector3">
            <a:avLst>
              <a:gd name="adj1" fmla="val 479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65538B8-399E-6ECF-62CC-1D68B83723EA}"/>
              </a:ext>
            </a:extLst>
          </p:cNvPr>
          <p:cNvCxnSpPr>
            <a:cxnSpLocks/>
            <a:stCxn id="44" idx="0"/>
            <a:endCxn id="8" idx="2"/>
          </p:cNvCxnSpPr>
          <p:nvPr/>
        </p:nvCxnSpPr>
        <p:spPr>
          <a:xfrm rot="16200000" flipV="1">
            <a:off x="8280918" y="2919907"/>
            <a:ext cx="2078875" cy="135484"/>
          </a:xfrm>
          <a:prstGeom prst="bentConnector3">
            <a:avLst>
              <a:gd name="adj1" fmla="val 4874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7611FAE4-4C98-D9AF-45AD-470DDD879F43}"/>
              </a:ext>
            </a:extLst>
          </p:cNvPr>
          <p:cNvCxnSpPr>
            <a:cxnSpLocks/>
            <a:stCxn id="45" idx="0"/>
            <a:endCxn id="8" idx="2"/>
          </p:cNvCxnSpPr>
          <p:nvPr/>
        </p:nvCxnSpPr>
        <p:spPr>
          <a:xfrm rot="16200000" flipV="1">
            <a:off x="9462710" y="1738115"/>
            <a:ext cx="2078875" cy="2499068"/>
          </a:xfrm>
          <a:prstGeom prst="bentConnector3">
            <a:avLst>
              <a:gd name="adj1" fmla="val 4832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AB10FAC-BC93-05D1-9CCB-0E5C3AC3F8F3}"/>
              </a:ext>
            </a:extLst>
          </p:cNvPr>
          <p:cNvSpPr/>
          <p:nvPr/>
        </p:nvSpPr>
        <p:spPr>
          <a:xfrm>
            <a:off x="6419068" y="4025700"/>
            <a:ext cx="962890" cy="453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509A12-5DF4-477B-4179-EA77A7B0BC1A}"/>
              </a:ext>
            </a:extLst>
          </p:cNvPr>
          <p:cNvSpPr/>
          <p:nvPr/>
        </p:nvSpPr>
        <p:spPr>
          <a:xfrm>
            <a:off x="8687057" y="4027086"/>
            <a:ext cx="1402080" cy="451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Acquisition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EB9A53-387F-1E25-EF07-2AD6F78B2D55}"/>
              </a:ext>
            </a:extLst>
          </p:cNvPr>
          <p:cNvSpPr/>
          <p:nvPr/>
        </p:nvSpPr>
        <p:spPr>
          <a:xfrm>
            <a:off x="11032630" y="4027086"/>
            <a:ext cx="1438102" cy="4544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Streaming</a:t>
            </a:r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84265D2F-157E-719D-F7E9-F80C8DF0F5BE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7381958" y="4252223"/>
            <a:ext cx="1305099" cy="6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98CC1B7-BC01-3732-14EE-1080B69D79CE}"/>
              </a:ext>
            </a:extLst>
          </p:cNvPr>
          <p:cNvSpPr txBox="1"/>
          <p:nvPr/>
        </p:nvSpPr>
        <p:spPr>
          <a:xfrm>
            <a:off x="7708923" y="4018775"/>
            <a:ext cx="62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Sync</a:t>
            </a:r>
          </a:p>
        </p:txBody>
      </p: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73B87570-4E9A-CF19-4617-FD30E6095E1B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>
            <a:off x="10089137" y="4252916"/>
            <a:ext cx="943493" cy="13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4A7AFF0-B69B-163E-6B9E-9D1F393EAC06}"/>
              </a:ext>
            </a:extLst>
          </p:cNvPr>
          <p:cNvSpPr txBox="1"/>
          <p:nvPr/>
        </p:nvSpPr>
        <p:spPr>
          <a:xfrm>
            <a:off x="10233221" y="4010463"/>
            <a:ext cx="62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Write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D65CA09-7A0A-4B41-757F-0889D9967BDA}"/>
              </a:ext>
            </a:extLst>
          </p:cNvPr>
          <p:cNvSpPr/>
          <p:nvPr/>
        </p:nvSpPr>
        <p:spPr>
          <a:xfrm>
            <a:off x="6744407" y="8126371"/>
            <a:ext cx="3954073" cy="8957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Utilities, Hardware Utilities, UI Utilities, Math Operations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58A16CC-BE51-840B-BEA5-8760716D0CBC}"/>
              </a:ext>
            </a:extLst>
          </p:cNvPr>
          <p:cNvSpPr/>
          <p:nvPr/>
        </p:nvSpPr>
        <p:spPr>
          <a:xfrm>
            <a:off x="13257338" y="4026394"/>
            <a:ext cx="1989562" cy="451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Environments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A1DA4AC-BFC4-88C5-D992-1DBDF410B36B}"/>
              </a:ext>
            </a:extLst>
          </p:cNvPr>
          <p:cNvSpPr/>
          <p:nvPr/>
        </p:nvSpPr>
        <p:spPr>
          <a:xfrm>
            <a:off x="13481303" y="3129499"/>
            <a:ext cx="1540982" cy="5090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 Manager</a:t>
            </a: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CFE0E327-FEEB-0FA6-1E88-15A74FA4DA19}"/>
              </a:ext>
            </a:extLst>
          </p:cNvPr>
          <p:cNvCxnSpPr>
            <a:cxnSpLocks/>
            <a:stCxn id="156" idx="0"/>
            <a:endCxn id="157" idx="2"/>
          </p:cNvCxnSpPr>
          <p:nvPr/>
        </p:nvCxnSpPr>
        <p:spPr>
          <a:xfrm rot="16200000" flipV="1">
            <a:off x="14058017" y="3832291"/>
            <a:ext cx="387881" cy="3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D7D2A462-E7D4-CA35-74A2-B0F8C3231893}"/>
              </a:ext>
            </a:extLst>
          </p:cNvPr>
          <p:cNvCxnSpPr>
            <a:cxnSpLocks/>
            <a:stCxn id="157" idx="0"/>
            <a:endCxn id="8" idx="2"/>
          </p:cNvCxnSpPr>
          <p:nvPr/>
        </p:nvCxnSpPr>
        <p:spPr>
          <a:xfrm rot="16200000" flipV="1">
            <a:off x="11161560" y="39264"/>
            <a:ext cx="1181288" cy="4999181"/>
          </a:xfrm>
          <a:prstGeom prst="bentConnector3">
            <a:avLst>
              <a:gd name="adj1" fmla="val 87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DC53B0BB-6FF2-089D-E22C-56E7205F1566}"/>
              </a:ext>
            </a:extLst>
          </p:cNvPr>
          <p:cNvCxnSpPr>
            <a:cxnSpLocks/>
            <a:stCxn id="44" idx="0"/>
            <a:endCxn id="156" idx="1"/>
          </p:cNvCxnSpPr>
          <p:nvPr/>
        </p:nvCxnSpPr>
        <p:spPr>
          <a:xfrm rot="16200000" flipH="1">
            <a:off x="11210148" y="2205035"/>
            <a:ext cx="225138" cy="3869241"/>
          </a:xfrm>
          <a:prstGeom prst="bentConnector4">
            <a:avLst>
              <a:gd name="adj1" fmla="val -74463"/>
              <a:gd name="adj2" fmla="val 9056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6" name="Connector: Elbow 195">
            <a:extLst>
              <a:ext uri="{FF2B5EF4-FFF2-40B4-BE49-F238E27FC236}">
                <a16:creationId xmlns:a16="http://schemas.microsoft.com/office/drawing/2014/main" id="{FC35D78D-47B0-7B9F-2F34-4FAA3E5161F3}"/>
              </a:ext>
            </a:extLst>
          </p:cNvPr>
          <p:cNvCxnSpPr>
            <a:cxnSpLocks/>
            <a:stCxn id="8" idx="0"/>
            <a:endCxn id="199" idx="2"/>
          </p:cNvCxnSpPr>
          <p:nvPr/>
        </p:nvCxnSpPr>
        <p:spPr>
          <a:xfrm rot="16200000" flipV="1">
            <a:off x="8978961" y="1131459"/>
            <a:ext cx="546704" cy="6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Rectangle 198">
            <a:extLst>
              <a:ext uri="{FF2B5EF4-FFF2-40B4-BE49-F238E27FC236}">
                <a16:creationId xmlns:a16="http://schemas.microsoft.com/office/drawing/2014/main" id="{BD9B5751-3008-3DB3-2A50-15DCF9035F04}"/>
              </a:ext>
            </a:extLst>
          </p:cNvPr>
          <p:cNvSpPr/>
          <p:nvPr/>
        </p:nvSpPr>
        <p:spPr>
          <a:xfrm>
            <a:off x="8346214" y="315309"/>
            <a:ext cx="1811596" cy="5430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GUI/Terminal</a:t>
            </a:r>
          </a:p>
        </p:txBody>
      </p: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0D248B45-FD5B-FA8A-6187-AB4531CF3573}"/>
              </a:ext>
            </a:extLst>
          </p:cNvPr>
          <p:cNvCxnSpPr>
            <a:cxnSpLocks/>
            <a:stCxn id="8" idx="1"/>
            <a:endCxn id="199" idx="1"/>
          </p:cNvCxnSpPr>
          <p:nvPr/>
        </p:nvCxnSpPr>
        <p:spPr>
          <a:xfrm rot="10800000">
            <a:off x="8346214" y="586860"/>
            <a:ext cx="8624" cy="1089803"/>
          </a:xfrm>
          <a:prstGeom prst="bentConnector3">
            <a:avLst>
              <a:gd name="adj1" fmla="val 2750742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1E4A6C2E-40B4-4050-07F6-28092B1DFB09}"/>
              </a:ext>
            </a:extLst>
          </p:cNvPr>
          <p:cNvSpPr txBox="1"/>
          <p:nvPr/>
        </p:nvSpPr>
        <p:spPr>
          <a:xfrm>
            <a:off x="7338197" y="538676"/>
            <a:ext cx="879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GUI update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DEF5536-4FE4-B2A8-8841-FB723DD25990}"/>
              </a:ext>
            </a:extLst>
          </p:cNvPr>
          <p:cNvSpPr/>
          <p:nvPr/>
        </p:nvSpPr>
        <p:spPr>
          <a:xfrm>
            <a:off x="2718741" y="4101143"/>
            <a:ext cx="1742349" cy="4797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D20C1A-58B4-4D76-AA30-DF8045405E2C}"/>
              </a:ext>
            </a:extLst>
          </p:cNvPr>
          <p:cNvSpPr/>
          <p:nvPr/>
        </p:nvSpPr>
        <p:spPr>
          <a:xfrm>
            <a:off x="658889" y="4084130"/>
            <a:ext cx="1438102" cy="5141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Profile Manager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9F129B5-F0FB-81A6-AB04-282C7B0597CB}"/>
              </a:ext>
            </a:extLst>
          </p:cNvPr>
          <p:cNvCxnSpPr>
            <a:cxnSpLocks/>
            <a:stCxn id="21" idx="0"/>
            <a:endCxn id="8" idx="2"/>
          </p:cNvCxnSpPr>
          <p:nvPr/>
        </p:nvCxnSpPr>
        <p:spPr>
          <a:xfrm rot="5400000" flipH="1" flipV="1">
            <a:off x="4247317" y="-921165"/>
            <a:ext cx="2135919" cy="78746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D89ECE2-FB69-80FC-EE9A-0866DF4C078F}"/>
              </a:ext>
            </a:extLst>
          </p:cNvPr>
          <p:cNvCxnSpPr>
            <a:cxnSpLocks/>
            <a:stCxn id="83" idx="0"/>
            <a:endCxn id="8" idx="2"/>
          </p:cNvCxnSpPr>
          <p:nvPr/>
        </p:nvCxnSpPr>
        <p:spPr>
          <a:xfrm rot="5400000" flipH="1" flipV="1">
            <a:off x="5344798" y="193329"/>
            <a:ext cx="2152932" cy="56626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6597FD7F-6D14-FF2E-5624-A148C973B3E7}"/>
              </a:ext>
            </a:extLst>
          </p:cNvPr>
          <p:cNvSpPr/>
          <p:nvPr/>
        </p:nvSpPr>
        <p:spPr>
          <a:xfrm>
            <a:off x="6761824" y="6937650"/>
            <a:ext cx="3919238" cy="8957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Abstract Hardware, Abstract Environment, Abstract Message Process, Abstract UI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BAA79E5C-7FF3-E3BB-469F-7EB849D2C02E}"/>
              </a:ext>
            </a:extLst>
          </p:cNvPr>
          <p:cNvCxnSpPr>
            <a:cxnSpLocks/>
            <a:stCxn id="152" idx="0"/>
            <a:endCxn id="68" idx="2"/>
          </p:cNvCxnSpPr>
          <p:nvPr/>
        </p:nvCxnSpPr>
        <p:spPr>
          <a:xfrm rot="16200000" flipV="1">
            <a:off x="8574939" y="7979865"/>
            <a:ext cx="29301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8561404-E8AC-82E0-9FEB-C69ACC80CD36}"/>
              </a:ext>
            </a:extLst>
          </p:cNvPr>
          <p:cNvCxnSpPr>
            <a:cxnSpLocks/>
            <a:stCxn id="21" idx="3"/>
            <a:endCxn id="83" idx="1"/>
          </p:cNvCxnSpPr>
          <p:nvPr/>
        </p:nvCxnSpPr>
        <p:spPr>
          <a:xfrm flipV="1">
            <a:off x="2096991" y="4341021"/>
            <a:ext cx="621750" cy="2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0FBFF3C-6269-3F21-2AF6-677CBB5A0001}"/>
              </a:ext>
            </a:extLst>
          </p:cNvPr>
          <p:cNvSpPr txBox="1"/>
          <p:nvPr/>
        </p:nvSpPr>
        <p:spPr>
          <a:xfrm>
            <a:off x="2131084" y="4066861"/>
            <a:ext cx="62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15F4019-BF2E-B5CD-2B04-005CFCBF68BA}"/>
              </a:ext>
            </a:extLst>
          </p:cNvPr>
          <p:cNvGrpSpPr/>
          <p:nvPr/>
        </p:nvGrpSpPr>
        <p:grpSpPr>
          <a:xfrm>
            <a:off x="6419069" y="4252223"/>
            <a:ext cx="8827831" cy="441697"/>
            <a:chOff x="6419069" y="4252223"/>
            <a:chExt cx="8827831" cy="546200"/>
          </a:xfrm>
        </p:grpSpPr>
        <p:cxnSp>
          <p:nvCxnSpPr>
            <p:cNvPr id="187" name="Connector: Elbow 186">
              <a:extLst>
                <a:ext uri="{FF2B5EF4-FFF2-40B4-BE49-F238E27FC236}">
                  <a16:creationId xmlns:a16="http://schemas.microsoft.com/office/drawing/2014/main" id="{0D00667C-A27D-FF58-4212-C177D82B5647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 rot="10800000">
              <a:off x="6419069" y="4252223"/>
              <a:ext cx="3482577" cy="546200"/>
            </a:xfrm>
            <a:prstGeom prst="bentConnector3">
              <a:avLst>
                <a:gd name="adj1" fmla="val 106564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0" name="Connector: Elbow 149">
              <a:extLst>
                <a:ext uri="{FF2B5EF4-FFF2-40B4-BE49-F238E27FC236}">
                  <a16:creationId xmlns:a16="http://schemas.microsoft.com/office/drawing/2014/main" id="{03D3A5A8-F64E-EF96-7D2B-CCDC63FC4973}"/>
                </a:ext>
              </a:extLst>
            </p:cNvPr>
            <p:cNvCxnSpPr>
              <a:cxnSpLocks/>
              <a:stCxn id="156" idx="3"/>
            </p:cNvCxnSpPr>
            <p:nvPr/>
          </p:nvCxnSpPr>
          <p:spPr>
            <a:xfrm flipH="1">
              <a:off x="6557554" y="4252224"/>
              <a:ext cx="8689346" cy="546199"/>
            </a:xfrm>
            <a:prstGeom prst="bentConnector3">
              <a:avLst>
                <a:gd name="adj1" fmla="val -2631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B98CD368-3A72-7CA0-D13F-C63D8783CE2C}"/>
              </a:ext>
            </a:extLst>
          </p:cNvPr>
          <p:cNvCxnSpPr>
            <a:cxnSpLocks/>
            <a:stCxn id="83" idx="3"/>
            <a:endCxn id="117" idx="1"/>
          </p:cNvCxnSpPr>
          <p:nvPr/>
        </p:nvCxnSpPr>
        <p:spPr>
          <a:xfrm>
            <a:off x="4461090" y="4341021"/>
            <a:ext cx="1312310" cy="2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569C59E2-AF37-5D88-A8CC-C2E04B0A9949}"/>
              </a:ext>
            </a:extLst>
          </p:cNvPr>
          <p:cNvSpPr txBox="1"/>
          <p:nvPr/>
        </p:nvSpPr>
        <p:spPr>
          <a:xfrm>
            <a:off x="4549072" y="4339359"/>
            <a:ext cx="1304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Commands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EB367BE1-1160-F037-32B7-54C5D898B5A4}"/>
              </a:ext>
            </a:extLst>
          </p:cNvPr>
          <p:cNvSpPr/>
          <p:nvPr/>
        </p:nvSpPr>
        <p:spPr>
          <a:xfrm>
            <a:off x="3557719" y="5867553"/>
            <a:ext cx="1832886" cy="58549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Profile Event List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705989A0-3454-3505-B112-8430B394A5BC}"/>
              </a:ext>
            </a:extLst>
          </p:cNvPr>
          <p:cNvSpPr/>
          <p:nvPr/>
        </p:nvSpPr>
        <p:spPr>
          <a:xfrm>
            <a:off x="5626005" y="5880616"/>
            <a:ext cx="1832886" cy="5854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 Instructions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8ECB865-42AE-42EE-7C12-BC2DB2E528EC}"/>
              </a:ext>
            </a:extLst>
          </p:cNvPr>
          <p:cNvSpPr/>
          <p:nvPr/>
        </p:nvSpPr>
        <p:spPr>
          <a:xfrm>
            <a:off x="7807501" y="5884972"/>
            <a:ext cx="1832886" cy="5854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Streaming Metadata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6765958-C1B7-ABF8-FF11-C43FA21F0457}"/>
              </a:ext>
            </a:extLst>
          </p:cNvPr>
          <p:cNvSpPr/>
          <p:nvPr/>
        </p:nvSpPr>
        <p:spPr>
          <a:xfrm>
            <a:off x="10076084" y="5871908"/>
            <a:ext cx="1832886" cy="585498"/>
          </a:xfrm>
          <a:prstGeom prst="rect">
            <a:avLst/>
          </a:prstGeom>
          <a:solidFill>
            <a:srgbClr val="ED87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Hardware Metadata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1C566EA4-C5F9-D89F-D5CF-3BE5B8066B93}"/>
              </a:ext>
            </a:extLst>
          </p:cNvPr>
          <p:cNvSpPr/>
          <p:nvPr/>
        </p:nvSpPr>
        <p:spPr>
          <a:xfrm>
            <a:off x="12240164" y="5867553"/>
            <a:ext cx="1832886" cy="5854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 Metadata</a:t>
            </a:r>
          </a:p>
        </p:txBody>
      </p: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801A8921-FA91-E82C-3996-437F13FBFD94}"/>
              </a:ext>
            </a:extLst>
          </p:cNvPr>
          <p:cNvCxnSpPr>
            <a:cxnSpLocks/>
            <a:stCxn id="68" idx="0"/>
            <a:endCxn id="205" idx="2"/>
          </p:cNvCxnSpPr>
          <p:nvPr/>
        </p:nvCxnSpPr>
        <p:spPr>
          <a:xfrm rot="5400000" flipH="1" flipV="1">
            <a:off x="8489103" y="6702810"/>
            <a:ext cx="467180" cy="25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43DEAD5A-9787-F1C0-E8D1-4707BB39C82F}"/>
              </a:ext>
            </a:extLst>
          </p:cNvPr>
          <p:cNvCxnSpPr>
            <a:cxnSpLocks/>
            <a:stCxn id="68" idx="0"/>
            <a:endCxn id="206" idx="2"/>
          </p:cNvCxnSpPr>
          <p:nvPr/>
        </p:nvCxnSpPr>
        <p:spPr>
          <a:xfrm rot="5400000" flipH="1" flipV="1">
            <a:off x="9616863" y="5561986"/>
            <a:ext cx="480244" cy="22710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5F67BA75-3213-B807-8311-7D435CEFF11F}"/>
              </a:ext>
            </a:extLst>
          </p:cNvPr>
          <p:cNvCxnSpPr>
            <a:cxnSpLocks/>
            <a:stCxn id="68" idx="0"/>
            <a:endCxn id="204" idx="2"/>
          </p:cNvCxnSpPr>
          <p:nvPr/>
        </p:nvCxnSpPr>
        <p:spPr>
          <a:xfrm rot="16200000" flipV="1">
            <a:off x="7396178" y="5612384"/>
            <a:ext cx="471536" cy="21789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F508A813-EAD5-186B-316E-4995E95CD31C}"/>
              </a:ext>
            </a:extLst>
          </p:cNvPr>
          <p:cNvCxnSpPr>
            <a:cxnSpLocks/>
            <a:stCxn id="68" idx="0"/>
            <a:endCxn id="207" idx="2"/>
          </p:cNvCxnSpPr>
          <p:nvPr/>
        </p:nvCxnSpPr>
        <p:spPr>
          <a:xfrm rot="5400000" flipH="1" flipV="1">
            <a:off x="10696726" y="4477769"/>
            <a:ext cx="484599" cy="44351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Connector: Elbow 223">
            <a:extLst>
              <a:ext uri="{FF2B5EF4-FFF2-40B4-BE49-F238E27FC236}">
                <a16:creationId xmlns:a16="http://schemas.microsoft.com/office/drawing/2014/main" id="{FB0C12EE-8295-63F7-8246-495FDC6A362F}"/>
              </a:ext>
            </a:extLst>
          </p:cNvPr>
          <p:cNvCxnSpPr>
            <a:cxnSpLocks/>
            <a:stCxn id="68" idx="0"/>
            <a:endCxn id="203" idx="2"/>
          </p:cNvCxnSpPr>
          <p:nvPr/>
        </p:nvCxnSpPr>
        <p:spPr>
          <a:xfrm rot="16200000" flipV="1">
            <a:off x="6355504" y="4571710"/>
            <a:ext cx="484599" cy="42472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AEAD630F-F8D5-595B-CB92-066A37A3E9D8}"/>
              </a:ext>
            </a:extLst>
          </p:cNvPr>
          <p:cNvCxnSpPr>
            <a:cxnSpLocks/>
            <a:stCxn id="203" idx="0"/>
            <a:endCxn id="21" idx="2"/>
          </p:cNvCxnSpPr>
          <p:nvPr/>
        </p:nvCxnSpPr>
        <p:spPr>
          <a:xfrm rot="16200000" flipV="1">
            <a:off x="2291432" y="3684823"/>
            <a:ext cx="1269238" cy="3096222"/>
          </a:xfrm>
          <a:prstGeom prst="bentConnector3">
            <a:avLst>
              <a:gd name="adj1" fmla="val 2324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067E8395-B13E-C8A0-4423-559B4C972108}"/>
              </a:ext>
            </a:extLst>
          </p:cNvPr>
          <p:cNvCxnSpPr>
            <a:cxnSpLocks/>
            <a:stCxn id="204" idx="0"/>
            <a:endCxn id="21" idx="2"/>
          </p:cNvCxnSpPr>
          <p:nvPr/>
        </p:nvCxnSpPr>
        <p:spPr>
          <a:xfrm rot="16200000" flipV="1">
            <a:off x="3319044" y="2657212"/>
            <a:ext cx="1282301" cy="5164508"/>
          </a:xfrm>
          <a:prstGeom prst="bentConnector3">
            <a:avLst>
              <a:gd name="adj1" fmla="val 36417"/>
            </a:avLst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B71CC75D-3EDA-48AB-5BC9-820A1E99579B}"/>
              </a:ext>
            </a:extLst>
          </p:cNvPr>
          <p:cNvCxnSpPr>
            <a:cxnSpLocks/>
            <a:stCxn id="204" idx="0"/>
            <a:endCxn id="83" idx="2"/>
          </p:cNvCxnSpPr>
          <p:nvPr/>
        </p:nvCxnSpPr>
        <p:spPr>
          <a:xfrm rot="16200000" flipV="1">
            <a:off x="4416323" y="3754491"/>
            <a:ext cx="1299718" cy="2952532"/>
          </a:xfrm>
          <a:prstGeom prst="bentConnector3">
            <a:avLst>
              <a:gd name="adj1" fmla="val 36599"/>
            </a:avLst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971C298F-A292-012A-DEAC-19ABA98E7374}"/>
              </a:ext>
            </a:extLst>
          </p:cNvPr>
          <p:cNvCxnSpPr>
            <a:cxnSpLocks/>
            <a:stCxn id="205" idx="0"/>
            <a:endCxn id="83" idx="2"/>
          </p:cNvCxnSpPr>
          <p:nvPr/>
        </p:nvCxnSpPr>
        <p:spPr>
          <a:xfrm rot="16200000" flipV="1">
            <a:off x="5504893" y="2665921"/>
            <a:ext cx="1304074" cy="5134028"/>
          </a:xfrm>
          <a:prstGeom prst="bentConnector3">
            <a:avLst>
              <a:gd name="adj1" fmla="val 46661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D2F91951-D02E-BCAE-3772-5BFC401317D5}"/>
              </a:ext>
            </a:extLst>
          </p:cNvPr>
          <p:cNvCxnSpPr>
            <a:cxnSpLocks/>
            <a:stCxn id="205" idx="0"/>
            <a:endCxn id="45" idx="2"/>
          </p:cNvCxnSpPr>
          <p:nvPr/>
        </p:nvCxnSpPr>
        <p:spPr>
          <a:xfrm rot="5400000" flipH="1" flipV="1">
            <a:off x="9536085" y="3669377"/>
            <a:ext cx="1403454" cy="3027737"/>
          </a:xfrm>
          <a:prstGeom prst="bentConnector3">
            <a:avLst>
              <a:gd name="adj1" fmla="val 42874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0" name="Connector: Elbow 259">
            <a:extLst>
              <a:ext uri="{FF2B5EF4-FFF2-40B4-BE49-F238E27FC236}">
                <a16:creationId xmlns:a16="http://schemas.microsoft.com/office/drawing/2014/main" id="{3F6414C7-04C1-41D3-07AB-BB1E8CE87919}"/>
              </a:ext>
            </a:extLst>
          </p:cNvPr>
          <p:cNvCxnSpPr>
            <a:cxnSpLocks/>
            <a:stCxn id="206" idx="0"/>
            <a:endCxn id="43" idx="2"/>
          </p:cNvCxnSpPr>
          <p:nvPr/>
        </p:nvCxnSpPr>
        <p:spPr>
          <a:xfrm rot="16200000" flipV="1">
            <a:off x="8249939" y="3129320"/>
            <a:ext cx="1393163" cy="4092014"/>
          </a:xfrm>
          <a:prstGeom prst="bentConnector3">
            <a:avLst>
              <a:gd name="adj1" fmla="val 50000"/>
            </a:avLst>
          </a:prstGeom>
          <a:ln>
            <a:solidFill>
              <a:srgbClr val="ED8779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1" name="Connector: Elbow 260">
            <a:extLst>
              <a:ext uri="{FF2B5EF4-FFF2-40B4-BE49-F238E27FC236}">
                <a16:creationId xmlns:a16="http://schemas.microsoft.com/office/drawing/2014/main" id="{B7628C2E-A51B-36AE-B047-EF16E26E6879}"/>
              </a:ext>
            </a:extLst>
          </p:cNvPr>
          <p:cNvCxnSpPr>
            <a:cxnSpLocks/>
            <a:stCxn id="206" idx="0"/>
            <a:endCxn id="44" idx="2"/>
          </p:cNvCxnSpPr>
          <p:nvPr/>
        </p:nvCxnSpPr>
        <p:spPr>
          <a:xfrm rot="16200000" flipV="1">
            <a:off x="9493731" y="4373112"/>
            <a:ext cx="1393163" cy="1604430"/>
          </a:xfrm>
          <a:prstGeom prst="bentConnector3">
            <a:avLst>
              <a:gd name="adj1" fmla="val 50000"/>
            </a:avLst>
          </a:prstGeom>
          <a:ln>
            <a:solidFill>
              <a:srgbClr val="ED8779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2" name="Connector: Elbow 261">
            <a:extLst>
              <a:ext uri="{FF2B5EF4-FFF2-40B4-BE49-F238E27FC236}">
                <a16:creationId xmlns:a16="http://schemas.microsoft.com/office/drawing/2014/main" id="{5959929D-68A4-171A-983A-715966C1FEC2}"/>
              </a:ext>
            </a:extLst>
          </p:cNvPr>
          <p:cNvCxnSpPr>
            <a:cxnSpLocks/>
            <a:stCxn id="206" idx="0"/>
            <a:endCxn id="45" idx="2"/>
          </p:cNvCxnSpPr>
          <p:nvPr/>
        </p:nvCxnSpPr>
        <p:spPr>
          <a:xfrm rot="5400000" flipH="1" flipV="1">
            <a:off x="10676909" y="4797136"/>
            <a:ext cx="1390390" cy="7591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: Elbow 269">
            <a:extLst>
              <a:ext uri="{FF2B5EF4-FFF2-40B4-BE49-F238E27FC236}">
                <a16:creationId xmlns:a16="http://schemas.microsoft.com/office/drawing/2014/main" id="{8DD83FB1-7968-3020-BB3E-51FAD7D07FD2}"/>
              </a:ext>
            </a:extLst>
          </p:cNvPr>
          <p:cNvCxnSpPr>
            <a:cxnSpLocks/>
            <a:stCxn id="206" idx="0"/>
            <a:endCxn id="156" idx="2"/>
          </p:cNvCxnSpPr>
          <p:nvPr/>
        </p:nvCxnSpPr>
        <p:spPr>
          <a:xfrm rot="5400000" flipH="1" flipV="1">
            <a:off x="11925396" y="3545185"/>
            <a:ext cx="1393855" cy="3259592"/>
          </a:xfrm>
          <a:prstGeom prst="bentConnector3">
            <a:avLst>
              <a:gd name="adj1" fmla="val 49999"/>
            </a:avLst>
          </a:prstGeom>
          <a:ln>
            <a:solidFill>
              <a:srgbClr val="ED8779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74" name="Connector: Elbow 273">
            <a:extLst>
              <a:ext uri="{FF2B5EF4-FFF2-40B4-BE49-F238E27FC236}">
                <a16:creationId xmlns:a16="http://schemas.microsoft.com/office/drawing/2014/main" id="{B3564838-AE15-E966-789E-13C4F79C0C0F}"/>
              </a:ext>
            </a:extLst>
          </p:cNvPr>
          <p:cNvCxnSpPr>
            <a:cxnSpLocks/>
            <a:stCxn id="207" idx="0"/>
            <a:endCxn id="156" idx="2"/>
          </p:cNvCxnSpPr>
          <p:nvPr/>
        </p:nvCxnSpPr>
        <p:spPr>
          <a:xfrm rot="5400000" flipH="1" flipV="1">
            <a:off x="13009613" y="4625047"/>
            <a:ext cx="1389500" cy="1095512"/>
          </a:xfrm>
          <a:prstGeom prst="bentConnector3">
            <a:avLst>
              <a:gd name="adj1" fmla="val 58692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8" name="Connector: Elbow 277">
            <a:extLst>
              <a:ext uri="{FF2B5EF4-FFF2-40B4-BE49-F238E27FC236}">
                <a16:creationId xmlns:a16="http://schemas.microsoft.com/office/drawing/2014/main" id="{1862F554-31AB-A960-2003-A7652D2B85E1}"/>
              </a:ext>
            </a:extLst>
          </p:cNvPr>
          <p:cNvCxnSpPr>
            <a:cxnSpLocks/>
            <a:stCxn id="207" idx="0"/>
            <a:endCxn id="45" idx="2"/>
          </p:cNvCxnSpPr>
          <p:nvPr/>
        </p:nvCxnSpPr>
        <p:spPr>
          <a:xfrm rot="16200000" flipV="1">
            <a:off x="11761127" y="4472073"/>
            <a:ext cx="1386035" cy="1404926"/>
          </a:xfrm>
          <a:prstGeom prst="bentConnector3">
            <a:avLst>
              <a:gd name="adj1" fmla="val 57884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90D9A133-1711-534F-F363-70ACDB38B3D4}"/>
              </a:ext>
            </a:extLst>
          </p:cNvPr>
          <p:cNvCxnSpPr>
            <a:cxnSpLocks/>
            <a:stCxn id="207" idx="0"/>
            <a:endCxn id="43" idx="2"/>
          </p:cNvCxnSpPr>
          <p:nvPr/>
        </p:nvCxnSpPr>
        <p:spPr>
          <a:xfrm rot="16200000" flipV="1">
            <a:off x="9334156" y="2045102"/>
            <a:ext cx="1388808" cy="6256094"/>
          </a:xfrm>
          <a:prstGeom prst="bentConnector3">
            <a:avLst>
              <a:gd name="adj1" fmla="val 58696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3" name="Connector: Elbow 282">
            <a:extLst>
              <a:ext uri="{FF2B5EF4-FFF2-40B4-BE49-F238E27FC236}">
                <a16:creationId xmlns:a16="http://schemas.microsoft.com/office/drawing/2014/main" id="{745BC9C4-E96C-8A5A-C226-88DB2BF90B50}"/>
              </a:ext>
            </a:extLst>
          </p:cNvPr>
          <p:cNvCxnSpPr>
            <a:cxnSpLocks/>
            <a:stCxn id="207" idx="0"/>
            <a:endCxn id="44" idx="2"/>
          </p:cNvCxnSpPr>
          <p:nvPr/>
        </p:nvCxnSpPr>
        <p:spPr>
          <a:xfrm rot="16200000" flipV="1">
            <a:off x="10577948" y="3288894"/>
            <a:ext cx="1388808" cy="3768510"/>
          </a:xfrm>
          <a:prstGeom prst="bentConnector3">
            <a:avLst>
              <a:gd name="adj1" fmla="val 59110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B72C8D69-F741-7F79-58F2-F57D1CE643B3}"/>
              </a:ext>
            </a:extLst>
          </p:cNvPr>
          <p:cNvSpPr txBox="1"/>
          <p:nvPr/>
        </p:nvSpPr>
        <p:spPr>
          <a:xfrm>
            <a:off x="15228776" y="3988296"/>
            <a:ext cx="995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Out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CAB8CF43-EAC4-3E93-5EC8-6C63B0CA6FC0}"/>
              </a:ext>
            </a:extLst>
          </p:cNvPr>
          <p:cNvSpPr txBox="1"/>
          <p:nvPr/>
        </p:nvSpPr>
        <p:spPr>
          <a:xfrm>
            <a:off x="8696530" y="3753165"/>
            <a:ext cx="995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In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E1881AA9-AF0C-2303-E759-7946F8E9888A}"/>
              </a:ext>
            </a:extLst>
          </p:cNvPr>
          <p:cNvSpPr txBox="1"/>
          <p:nvPr/>
        </p:nvSpPr>
        <p:spPr>
          <a:xfrm>
            <a:off x="13576663" y="348343"/>
            <a:ext cx="2882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Ownership/Reliance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Queue</a:t>
            </a:r>
          </a:p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Pass Object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BA10DBB2-C9E0-628A-2FD9-B5925029AB53}"/>
              </a:ext>
            </a:extLst>
          </p:cNvPr>
          <p:cNvSpPr/>
          <p:nvPr/>
        </p:nvSpPr>
        <p:spPr>
          <a:xfrm>
            <a:off x="10649631" y="315310"/>
            <a:ext cx="1811596" cy="5430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 UI</a:t>
            </a:r>
          </a:p>
        </p:txBody>
      </p:sp>
      <p:cxnSp>
        <p:nvCxnSpPr>
          <p:cNvPr id="300" name="Connector: Elbow 299">
            <a:extLst>
              <a:ext uri="{FF2B5EF4-FFF2-40B4-BE49-F238E27FC236}">
                <a16:creationId xmlns:a16="http://schemas.microsoft.com/office/drawing/2014/main" id="{D5262230-2174-F315-EAFB-7677E9478CDD}"/>
              </a:ext>
            </a:extLst>
          </p:cNvPr>
          <p:cNvCxnSpPr>
            <a:cxnSpLocks/>
            <a:stCxn id="299" idx="1"/>
            <a:endCxn id="199" idx="3"/>
          </p:cNvCxnSpPr>
          <p:nvPr/>
        </p:nvCxnSpPr>
        <p:spPr>
          <a:xfrm rot="10800000">
            <a:off x="10157811" y="586860"/>
            <a:ext cx="49182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4" name="Connector: Elbow 303">
            <a:extLst>
              <a:ext uri="{FF2B5EF4-FFF2-40B4-BE49-F238E27FC236}">
                <a16:creationId xmlns:a16="http://schemas.microsoft.com/office/drawing/2014/main" id="{DDBC1415-55C2-ACD9-197A-AB839CC5A878}"/>
              </a:ext>
            </a:extLst>
          </p:cNvPr>
          <p:cNvCxnSpPr>
            <a:cxnSpLocks/>
            <a:stCxn id="8" idx="3"/>
            <a:endCxn id="299" idx="2"/>
          </p:cNvCxnSpPr>
          <p:nvPr/>
        </p:nvCxnSpPr>
        <p:spPr>
          <a:xfrm flipV="1">
            <a:off x="10150387" y="858409"/>
            <a:ext cx="1405042" cy="8182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" name="Connector: Elbow 306">
            <a:extLst>
              <a:ext uri="{FF2B5EF4-FFF2-40B4-BE49-F238E27FC236}">
                <a16:creationId xmlns:a16="http://schemas.microsoft.com/office/drawing/2014/main" id="{8D5A9513-19F7-F9B1-4C2F-0F622D59BF6E}"/>
              </a:ext>
            </a:extLst>
          </p:cNvPr>
          <p:cNvCxnSpPr>
            <a:cxnSpLocks/>
            <a:stCxn id="8" idx="1"/>
            <a:endCxn id="117" idx="1"/>
          </p:cNvCxnSpPr>
          <p:nvPr/>
        </p:nvCxnSpPr>
        <p:spPr>
          <a:xfrm rot="10800000" flipV="1">
            <a:off x="5773400" y="1676661"/>
            <a:ext cx="2581438" cy="2664561"/>
          </a:xfrm>
          <a:prstGeom prst="bentConnector3">
            <a:avLst>
              <a:gd name="adj1" fmla="val 11762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3" name="Connector: Elbow 332">
            <a:extLst>
              <a:ext uri="{FF2B5EF4-FFF2-40B4-BE49-F238E27FC236}">
                <a16:creationId xmlns:a16="http://schemas.microsoft.com/office/drawing/2014/main" id="{67483C72-09C7-BC06-CDF0-75F9C6234818}"/>
              </a:ext>
            </a:extLst>
          </p:cNvPr>
          <p:cNvCxnSpPr>
            <a:cxnSpLocks/>
            <a:stCxn id="8" idx="1"/>
            <a:endCxn id="21" idx="1"/>
          </p:cNvCxnSpPr>
          <p:nvPr/>
        </p:nvCxnSpPr>
        <p:spPr>
          <a:xfrm rot="10800000" flipV="1">
            <a:off x="658890" y="1676661"/>
            <a:ext cx="7695949" cy="2664561"/>
          </a:xfrm>
          <a:prstGeom prst="bentConnector3">
            <a:avLst>
              <a:gd name="adj1" fmla="val 10297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B860E522-CA2D-24EB-EC3C-AE8981AFA76C}"/>
              </a:ext>
            </a:extLst>
          </p:cNvPr>
          <p:cNvSpPr txBox="1"/>
          <p:nvPr/>
        </p:nvSpPr>
        <p:spPr>
          <a:xfrm>
            <a:off x="7500122" y="1681676"/>
            <a:ext cx="879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Initialize</a:t>
            </a:r>
          </a:p>
        </p:txBody>
      </p:sp>
      <p:cxnSp>
        <p:nvCxnSpPr>
          <p:cNvPr id="353" name="Connector: Elbow 352">
            <a:extLst>
              <a:ext uri="{FF2B5EF4-FFF2-40B4-BE49-F238E27FC236}">
                <a16:creationId xmlns:a16="http://schemas.microsoft.com/office/drawing/2014/main" id="{F1040099-A95B-B2C0-B10D-9B5A00A4264F}"/>
              </a:ext>
            </a:extLst>
          </p:cNvPr>
          <p:cNvCxnSpPr>
            <a:cxnSpLocks/>
            <a:stCxn id="157" idx="1"/>
            <a:endCxn id="156" idx="1"/>
          </p:cNvCxnSpPr>
          <p:nvPr/>
        </p:nvCxnSpPr>
        <p:spPr>
          <a:xfrm rot="10800000" flipV="1">
            <a:off x="13257339" y="3384006"/>
            <a:ext cx="223965" cy="868218"/>
          </a:xfrm>
          <a:prstGeom prst="bentConnector3">
            <a:avLst>
              <a:gd name="adj1" fmla="val 257358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8" name="TextBox 357">
            <a:extLst>
              <a:ext uri="{FF2B5EF4-FFF2-40B4-BE49-F238E27FC236}">
                <a16:creationId xmlns:a16="http://schemas.microsoft.com/office/drawing/2014/main" id="{43B2C13A-E944-60FB-F8E0-3683405CA64A}"/>
              </a:ext>
            </a:extLst>
          </p:cNvPr>
          <p:cNvSpPr txBox="1"/>
          <p:nvPr/>
        </p:nvSpPr>
        <p:spPr>
          <a:xfrm>
            <a:off x="12643622" y="3110426"/>
            <a:ext cx="879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Initialize</a:t>
            </a:r>
          </a:p>
        </p:txBody>
      </p:sp>
    </p:spTree>
    <p:extLst>
      <p:ext uri="{BB962C8B-B14F-4D97-AF65-F5344CB8AC3E}">
        <p14:creationId xmlns:p14="http://schemas.microsoft.com/office/powerpoint/2010/main" val="3553713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3D5E8-58D0-7125-D345-F18C4D2C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F43A-0617-896A-99F8-2FECBBCB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Threading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4A07C-336E-C282-15A9-007C082B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6370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Rattlesnake can now run in a mostly threaded mode (Rattlesnake(threading=True)):</a:t>
            </a:r>
          </a:p>
          <a:p>
            <a:r>
              <a:rPr lang="en-US" sz="3000" dirty="0"/>
              <a:t>Threading mode swaps processes for threads and main data queues for threads</a:t>
            </a:r>
          </a:p>
          <a:p>
            <a:r>
              <a:rPr lang="en-US" sz="3000" dirty="0" err="1"/>
              <a:t>Log_file_task</a:t>
            </a:r>
            <a:r>
              <a:rPr lang="en-US" sz="3000" dirty="0"/>
              <a:t> is still </a:t>
            </a:r>
            <a:r>
              <a:rPr lang="en-US" sz="3000" dirty="0" err="1"/>
              <a:t>multiprocessed</a:t>
            </a:r>
            <a:r>
              <a:rPr lang="en-US" sz="3000" dirty="0"/>
              <a:t> because it isn’t time sensitive</a:t>
            </a:r>
          </a:p>
          <a:p>
            <a:r>
              <a:rPr lang="en-US" sz="3000" dirty="0"/>
              <a:t>Some command queues are still multiprocessing queues since the commands do not need to be instant and can slow down </a:t>
            </a:r>
            <a:r>
              <a:rPr lang="en-US" sz="3000" dirty="0" err="1"/>
              <a:t>data_queues</a:t>
            </a:r>
            <a:endParaRPr lang="en-US" sz="3000" dirty="0"/>
          </a:p>
          <a:p>
            <a:pPr lvl="1"/>
            <a:r>
              <a:rPr lang="en-US" sz="3000" dirty="0"/>
              <a:t>These can be swapped to threaded queues but the </a:t>
            </a:r>
            <a:r>
              <a:rPr lang="en-US" sz="3000" dirty="0" err="1"/>
              <a:t>output_queue</a:t>
            </a:r>
            <a:r>
              <a:rPr lang="en-US" sz="3000" dirty="0"/>
              <a:t> architecture does not play well with qt </a:t>
            </a:r>
            <a:r>
              <a:rPr lang="en-US" sz="3000" dirty="0" err="1"/>
              <a:t>gui</a:t>
            </a:r>
            <a:r>
              <a:rPr lang="en-US" sz="3000" dirty="0"/>
              <a:t> for complex reasons</a:t>
            </a:r>
          </a:p>
          <a:p>
            <a:pPr marL="609585" lvl="1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Advantages/Disadvantages</a:t>
            </a:r>
          </a:p>
          <a:p>
            <a:r>
              <a:rPr lang="en-US" sz="3000" dirty="0"/>
              <a:t>Acquisition =&gt; Environment =&gt; Output is much faster (~0.05-0.1s) faster</a:t>
            </a:r>
          </a:p>
          <a:p>
            <a:r>
              <a:rPr lang="en-US" sz="3000" dirty="0"/>
              <a:t>Reading commands in process while True loop is slower (~0.006s) slower</a:t>
            </a:r>
          </a:p>
          <a:p>
            <a:pPr lvl="1"/>
            <a:r>
              <a:rPr lang="en-US" sz="3000" dirty="0"/>
              <a:t>Due to threading having to read these loops sequentially instead of 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2814274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90750F8-EBEB-F8A0-385F-1C56C6E47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939" y="3518007"/>
            <a:ext cx="5239755" cy="46575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0C054A-01B7-5EFA-C1B5-5BC5C56757C1}"/>
              </a:ext>
            </a:extLst>
          </p:cNvPr>
          <p:cNvSpPr txBox="1"/>
          <p:nvPr/>
        </p:nvSpPr>
        <p:spPr>
          <a:xfrm>
            <a:off x="3699765" y="8421915"/>
            <a:ext cx="12600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Testing delays between start/stop signal command on 2 Hz sine wave for 3 seconds (Simulated data)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0D0009-D564-9238-7B76-318266283F2D}"/>
              </a:ext>
            </a:extLst>
          </p:cNvPr>
          <p:cNvSpPr txBox="1"/>
          <p:nvPr/>
        </p:nvSpPr>
        <p:spPr>
          <a:xfrm>
            <a:off x="754797" y="2144191"/>
            <a:ext cx="7884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Threading</a:t>
            </a:r>
          </a:p>
          <a:p>
            <a:r>
              <a:rPr lang="en-US" sz="2400" dirty="0"/>
              <a:t>Acquisition -&gt; Environment -&gt; Output is faster (~0.05-0.1s)</a:t>
            </a:r>
          </a:p>
          <a:p>
            <a:r>
              <a:rPr lang="en-US" sz="2400" dirty="0"/>
              <a:t>Command reading is slower (~ 0.006s)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7F6CDB-C839-9FFC-413B-2B46EA5F6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9652" y="3528167"/>
            <a:ext cx="5948625" cy="47016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DC8562-0A12-1227-B249-91A15174A28E}"/>
              </a:ext>
            </a:extLst>
          </p:cNvPr>
          <p:cNvSpPr txBox="1"/>
          <p:nvPr/>
        </p:nvSpPr>
        <p:spPr>
          <a:xfrm>
            <a:off x="9632073" y="2097932"/>
            <a:ext cx="6901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Multiprocessing</a:t>
            </a:r>
            <a:br>
              <a:rPr lang="en-US" sz="2400" dirty="0"/>
            </a:br>
            <a:r>
              <a:rPr lang="en-US" sz="2400" dirty="0"/>
              <a:t>Acquisition -&gt; Environment -&gt; Output is slower</a:t>
            </a:r>
          </a:p>
          <a:p>
            <a:r>
              <a:rPr lang="en-US" sz="2400" dirty="0"/>
              <a:t>Command reading is faster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6B0C7E-0601-47F4-AC69-06C3B761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</p:spPr>
        <p:txBody>
          <a:bodyPr/>
          <a:lstStyle/>
          <a:p>
            <a:r>
              <a:rPr lang="en-US" dirty="0"/>
              <a:t>Threading vs Multiprocessing</a:t>
            </a:r>
          </a:p>
        </p:txBody>
      </p:sp>
    </p:spTree>
    <p:extLst>
      <p:ext uri="{BB962C8B-B14F-4D97-AF65-F5344CB8AC3E}">
        <p14:creationId xmlns:p14="http://schemas.microsoft.com/office/powerpoint/2010/main" val="2992100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A74ED-198D-5A85-87FF-616488437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F83F-9C0C-68F5-0A2D-27F98E0F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Reasoning for late stop (I think)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10B5C-7020-41EF-CFCA-E8438A243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acquisition =&gt; environment =&gt; output is delayed</a:t>
            </a:r>
          </a:p>
          <a:p>
            <a:pPr lvl="1"/>
            <a:r>
              <a:rPr lang="en-US" dirty="0"/>
              <a:t>Acquisition/environment receives stop command but there is still backlogged data in queues (copying/moving memory)</a:t>
            </a:r>
          </a:p>
          <a:p>
            <a:pPr lvl="1"/>
            <a:r>
              <a:rPr lang="en-US" dirty="0"/>
              <a:t>Even if command comes in immediately (which it does), the backlogged data is still processed</a:t>
            </a:r>
          </a:p>
        </p:txBody>
      </p:sp>
    </p:spTree>
    <p:extLst>
      <p:ext uri="{BB962C8B-B14F-4D97-AF65-F5344CB8AC3E}">
        <p14:creationId xmlns:p14="http://schemas.microsoft.com/office/powerpoint/2010/main" val="662127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FE93-4E5C-680E-7D42-66A0985A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Shutdown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9149E-5F88-BF05-7B99-181BA50C8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had to add </a:t>
            </a:r>
            <a:r>
              <a:rPr lang="en-US" dirty="0" err="1"/>
              <a:t>close_events</a:t>
            </a:r>
            <a:r>
              <a:rPr lang="en-US" dirty="0"/>
              <a:t> since threaded processes do not have a force timeout/terminate function</a:t>
            </a:r>
          </a:p>
          <a:p>
            <a:r>
              <a:rPr lang="en-US" dirty="0"/>
              <a:t>These events kick in if </a:t>
            </a:r>
            <a:r>
              <a:rPr lang="en-US" dirty="0" err="1"/>
              <a:t>queue.get</a:t>
            </a:r>
            <a:r>
              <a:rPr lang="en-US" dirty="0"/>
              <a:t> is stalled for whatever reason.</a:t>
            </a:r>
          </a:p>
          <a:p>
            <a:r>
              <a:rPr lang="en-US" dirty="0"/>
              <a:t>Threaded is much more consistent on garbage collection and usually fixes itself when shutdown is called even in the event of a crash</a:t>
            </a:r>
          </a:p>
          <a:p>
            <a:r>
              <a:rPr lang="en-US" dirty="0"/>
              <a:t>Terminate is still used for processes and comes in handy when a process is stuck in a function[data] command.</a:t>
            </a:r>
          </a:p>
        </p:txBody>
      </p:sp>
    </p:spTree>
    <p:extLst>
      <p:ext uri="{BB962C8B-B14F-4D97-AF65-F5344CB8AC3E}">
        <p14:creationId xmlns:p14="http://schemas.microsoft.com/office/powerpoint/2010/main" val="3676742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A48A5-3A7E-1754-A449-0F931A1BC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F662-37AA-43A5-E530-84393F4C0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3F67C-EB56-E990-E2A5-E7EA90E64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6192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I rewrote the unit tests and they now cover 87% of the headless controller/process</a:t>
            </a:r>
          </a:p>
          <a:p>
            <a:r>
              <a:rPr lang="en-US" sz="3000" dirty="0"/>
              <a:t>These are much more useful for debugging new environments/hardware</a:t>
            </a:r>
          </a:p>
          <a:p>
            <a:pPr lvl="1"/>
            <a:r>
              <a:rPr lang="en-US" sz="3000" dirty="0"/>
              <a:t>Enforce </a:t>
            </a:r>
            <a:r>
              <a:rPr lang="en-US" sz="3000" dirty="0" err="1"/>
              <a:t>initialize_hardware</a:t>
            </a:r>
            <a:r>
              <a:rPr lang="en-US" sz="3000" dirty="0"/>
              <a:t>(</a:t>
            </a:r>
            <a:r>
              <a:rPr lang="en-US" sz="3000" dirty="0" err="1"/>
              <a:t>HardwareMetadata</a:t>
            </a:r>
            <a:r>
              <a:rPr lang="en-US" sz="3000" dirty="0"/>
              <a:t>), etc.</a:t>
            </a:r>
          </a:p>
          <a:p>
            <a:pPr lvl="1"/>
            <a:r>
              <a:rPr lang="en-US" sz="3000" dirty="0"/>
              <a:t>Must add in development environments/hardware to UNIMPLEMENTED list in </a:t>
            </a:r>
            <a:r>
              <a:rPr lang="en-US" sz="3000" dirty="0" err="1"/>
              <a:t>mock_objects</a:t>
            </a:r>
            <a:r>
              <a:rPr lang="en-US" sz="3000" dirty="0"/>
              <a:t> files if you don’t want these throwing errors all the time</a:t>
            </a:r>
          </a:p>
          <a:p>
            <a:pPr lvl="1"/>
            <a:r>
              <a:rPr lang="en-US" sz="3000" dirty="0"/>
              <a:t>Enforces </a:t>
            </a:r>
            <a:r>
              <a:rPr lang="en-US" sz="3000" dirty="0" err="1"/>
              <a:t>ready_events</a:t>
            </a:r>
            <a:r>
              <a:rPr lang="en-US" sz="3000" dirty="0"/>
              <a:t> and </a:t>
            </a:r>
            <a:r>
              <a:rPr lang="en-US" sz="3000" dirty="0" err="1"/>
              <a:t>active_events</a:t>
            </a:r>
            <a:endParaRPr lang="en-US" sz="3000" dirty="0"/>
          </a:p>
          <a:p>
            <a:pPr lvl="1"/>
            <a:r>
              <a:rPr lang="en-US" sz="3000" dirty="0"/>
              <a:t>Enforces threading/multiprocessing behavior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I have a really hard time writing tests for main </a:t>
            </a:r>
            <a:r>
              <a:rPr lang="en-US" sz="3000" dirty="0" err="1"/>
              <a:t>acquire_signal</a:t>
            </a:r>
            <a:r>
              <a:rPr lang="en-US" sz="3000" dirty="0"/>
              <a:t>, </a:t>
            </a:r>
            <a:r>
              <a:rPr lang="en-US" sz="3000" dirty="0" err="1"/>
              <a:t>output_signal</a:t>
            </a:r>
            <a:r>
              <a:rPr lang="en-US" sz="3000" dirty="0"/>
              <a:t>, </a:t>
            </a:r>
            <a:r>
              <a:rPr lang="en-US" sz="3000" dirty="0" err="1"/>
              <a:t>run_control</a:t>
            </a:r>
            <a:r>
              <a:rPr lang="en-US" sz="3000" dirty="0"/>
              <a:t> functions</a:t>
            </a:r>
          </a:p>
          <a:p>
            <a:r>
              <a:rPr lang="en-US" sz="3000" dirty="0"/>
              <a:t>This is the last thing that needs coverage. Other stuff is </a:t>
            </a:r>
            <a:r>
              <a:rPr lang="en-US" sz="3000" dirty="0" err="1"/>
              <a:t>Pickle_on_error</a:t>
            </a:r>
            <a:r>
              <a:rPr lang="en-US" sz="3000" dirty="0"/>
              <a:t>/debugging stuff</a:t>
            </a:r>
          </a:p>
        </p:txBody>
      </p:sp>
    </p:spTree>
    <p:extLst>
      <p:ext uri="{BB962C8B-B14F-4D97-AF65-F5344CB8AC3E}">
        <p14:creationId xmlns:p14="http://schemas.microsoft.com/office/powerpoint/2010/main" val="3981866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695F-22F8-4B08-A6CB-507B3818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F5FD8-407E-743D-4B9A-FC9A577E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73D80-D10F-ADEF-6A9E-7065FE9DE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6"/>
            <a:ext cx="15773400" cy="6491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New files pass ruff linting checks. </a:t>
            </a:r>
          </a:p>
          <a:p>
            <a:r>
              <a:rPr lang="en-US" sz="3000" dirty="0"/>
              <a:t>I reworked a lot of the comments to represent new structure.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I changed around the file structure a decent bit to avoid </a:t>
            </a:r>
            <a:r>
              <a:rPr lang="en-US" sz="3000"/>
              <a:t>circular imports</a:t>
            </a:r>
            <a:endParaRPr lang="en-US" sz="3000" dirty="0"/>
          </a:p>
          <a:p>
            <a:r>
              <a:rPr lang="en-US" sz="3000" dirty="0"/>
              <a:t>Utilities.py/Math_Operations.py should contain NO relative imports</a:t>
            </a:r>
          </a:p>
          <a:p>
            <a:r>
              <a:rPr lang="en-US" sz="3000" dirty="0" err="1"/>
              <a:t>Hardware_utilities</a:t>
            </a:r>
            <a:r>
              <a:rPr lang="en-US" sz="3000" dirty="0"/>
              <a:t>, etc. should only import Utilities.py</a:t>
            </a:r>
          </a:p>
          <a:p>
            <a:r>
              <a:rPr lang="en-US" sz="3000" dirty="0" err="1"/>
              <a:t>Abstract_hardware</a:t>
            </a:r>
            <a:r>
              <a:rPr lang="en-US" sz="3000" dirty="0"/>
              <a:t>, etc. should only import </a:t>
            </a:r>
            <a:r>
              <a:rPr lang="en-US" sz="3000" dirty="0" err="1"/>
              <a:t>hardware_utilities</a:t>
            </a:r>
            <a:r>
              <a:rPr lang="en-US" sz="3000" dirty="0"/>
              <a:t>, utilities, etc.</a:t>
            </a:r>
          </a:p>
          <a:p>
            <a:r>
              <a:rPr lang="en-US" sz="3000" dirty="0"/>
              <a:t>Environment/Hardware can import anything but Rattlesnake/Managers</a:t>
            </a:r>
          </a:p>
          <a:p>
            <a:r>
              <a:rPr lang="en-US" sz="3000" dirty="0"/>
              <a:t>Rattlesnake.py can import anything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Math_operations.py was added for stuff like db2scale, etc.</a:t>
            </a:r>
          </a:p>
        </p:txBody>
      </p:sp>
    </p:spTree>
    <p:extLst>
      <p:ext uri="{BB962C8B-B14F-4D97-AF65-F5344CB8AC3E}">
        <p14:creationId xmlns:p14="http://schemas.microsoft.com/office/powerpoint/2010/main" val="4192382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2F03-834E-4A23-0FEE-BFE611DAA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B189F-C193-4FAD-2E99-8D5121E68D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61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5544-68B8-8694-6871-52B2A7829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C40-A84E-6787-3553-C6610EE0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UI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993E6-9F4D-DFF4-EE69-C3D86A88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580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The main UI will follow the following structure</a:t>
            </a:r>
          </a:p>
          <a:p>
            <a:r>
              <a:rPr lang="en-US" sz="3000" dirty="0"/>
              <a:t>Main UI and environment </a:t>
            </a:r>
            <a:r>
              <a:rPr lang="en-US" sz="3000" dirty="0" err="1"/>
              <a:t>Uis</a:t>
            </a:r>
            <a:r>
              <a:rPr lang="en-US" sz="3000" dirty="0"/>
              <a:t> will own Rattlesnake object</a:t>
            </a:r>
          </a:p>
          <a:p>
            <a:pPr lvl="1"/>
            <a:r>
              <a:rPr lang="en-US" sz="3000" dirty="0"/>
              <a:t>All commands go through Rattlesnake object</a:t>
            </a:r>
          </a:p>
          <a:p>
            <a:r>
              <a:rPr lang="en-US" sz="3000" dirty="0"/>
              <a:t>Main UI will use try, catch statements when doing things like </a:t>
            </a:r>
            <a:r>
              <a:rPr lang="en-US" sz="3000" dirty="0" err="1"/>
              <a:t>initialize_hardware</a:t>
            </a:r>
            <a:r>
              <a:rPr lang="en-US" sz="3000" dirty="0"/>
              <a:t>, etc.</a:t>
            </a:r>
          </a:p>
          <a:p>
            <a:pPr lvl="1"/>
            <a:r>
              <a:rPr lang="en-US" sz="3000" dirty="0"/>
              <a:t>If catches a validation error, the main </a:t>
            </a:r>
            <a:r>
              <a:rPr lang="en-US" sz="3000" dirty="0" err="1"/>
              <a:t>ui</a:t>
            </a:r>
            <a:r>
              <a:rPr lang="en-US" sz="3000" dirty="0"/>
              <a:t> will not unlock the next tab</a:t>
            </a:r>
          </a:p>
          <a:p>
            <a:r>
              <a:rPr lang="en-US" sz="3000" dirty="0"/>
              <a:t>Blocking mode will be off and events will be enforced by UI</a:t>
            </a:r>
          </a:p>
          <a:p>
            <a:pPr lvl="1"/>
            <a:r>
              <a:rPr lang="en-US" sz="3000" dirty="0"/>
              <a:t>Events will trigger qt signals</a:t>
            </a:r>
          </a:p>
          <a:p>
            <a:pPr lvl="2"/>
            <a:r>
              <a:rPr lang="en-US" sz="3000" dirty="0"/>
              <a:t>Ex: Locking </a:t>
            </a:r>
            <a:r>
              <a:rPr lang="en-US" sz="3000" dirty="0" err="1"/>
              <a:t>start_acquisition</a:t>
            </a:r>
            <a:r>
              <a:rPr lang="en-US" sz="3000" dirty="0"/>
              <a:t> until Lan-Xi hardware is confirmed ready for startup</a:t>
            </a:r>
          </a:p>
          <a:p>
            <a:pPr lvl="1"/>
            <a:r>
              <a:rPr lang="en-US" sz="3000" dirty="0"/>
              <a:t>This allows for the UI to still be editable while waiting for processes to set events</a:t>
            </a:r>
          </a:p>
        </p:txBody>
      </p:sp>
    </p:spTree>
    <p:extLst>
      <p:ext uri="{BB962C8B-B14F-4D97-AF65-F5344CB8AC3E}">
        <p14:creationId xmlns:p14="http://schemas.microsoft.com/office/powerpoint/2010/main" val="4148129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EADBF-EF34-A984-13E4-03245DF3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75E6-716A-AEA1-5E7C-F564BCF4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UI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F6C29-10B7-0CA8-C8A1-D7188832A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580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During this refactor, I plan on adding new features to main UI</a:t>
            </a:r>
          </a:p>
          <a:p>
            <a:r>
              <a:rPr lang="en-US" sz="3000" dirty="0"/>
              <a:t>Assist mode for hardware</a:t>
            </a:r>
          </a:p>
          <a:p>
            <a:r>
              <a:rPr lang="en-US" sz="3000" dirty="0"/>
              <a:t>Adding/removing environments adaptively</a:t>
            </a:r>
          </a:p>
          <a:p>
            <a:r>
              <a:rPr lang="en-US" sz="3000" dirty="0"/>
              <a:t>Data buffer for “Undo”/”Redo” commands</a:t>
            </a:r>
          </a:p>
          <a:p>
            <a:pPr marL="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164968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6DE6-B3CA-8DD4-D18A-0F5D957F8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23F7-7B3D-230B-7BF1-ED02FD31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Hardware/Environments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8C6C8-50CB-1352-BC81-C1F56D689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580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I plan to get all environments running headless before the semester ends</a:t>
            </a:r>
          </a:p>
          <a:p>
            <a:r>
              <a:rPr lang="en-US" sz="3000" dirty="0"/>
              <a:t>This is pretty easy for modal/read environments and just requires writing the metadata objects</a:t>
            </a:r>
          </a:p>
          <a:p>
            <a:r>
              <a:rPr lang="en-US" sz="3000" dirty="0"/>
              <a:t>I need to figure out the process for </a:t>
            </a:r>
            <a:r>
              <a:rPr lang="en-US" sz="3000" dirty="0" err="1"/>
              <a:t>sys_identification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For hardware, I plan on having </a:t>
            </a:r>
            <a:r>
              <a:rPr lang="en-US" sz="3000" dirty="0" err="1"/>
              <a:t>NI_DAQmx</a:t>
            </a:r>
            <a:r>
              <a:rPr lang="en-US" sz="3000" dirty="0"/>
              <a:t> and all virtual hardware done</a:t>
            </a:r>
          </a:p>
          <a:p>
            <a:r>
              <a:rPr lang="en-US" sz="3000" dirty="0"/>
              <a:t>Don’t have access to other hardware so I wont be able to figure out the validation checks needed</a:t>
            </a:r>
          </a:p>
          <a:p>
            <a:pPr marL="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534496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48F1-E764-0773-306D-E6B60668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952A-7D1C-2906-032E-8BD6944E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Save/Load files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B05E-AF2E-4CE8-7D7F-8CEA733A7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580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I have not implemented the Save/Load UI files yet.</a:t>
            </a:r>
          </a:p>
          <a:p>
            <a:r>
              <a:rPr lang="en-US" sz="3000" dirty="0"/>
              <a:t>This will probably have its own </a:t>
            </a:r>
            <a:r>
              <a:rPr lang="en-US" sz="3000" dirty="0" err="1"/>
              <a:t>FileManager</a:t>
            </a:r>
            <a:r>
              <a:rPr lang="en-US" sz="3000" dirty="0"/>
              <a:t> to deal with different file types</a:t>
            </a:r>
          </a:p>
          <a:p>
            <a:r>
              <a:rPr lang="en-US" sz="3000" dirty="0"/>
              <a:t>Will be a Rattlesnake() function that outputs metadata, etc.</a:t>
            </a:r>
          </a:p>
          <a:p>
            <a:r>
              <a:rPr lang="en-US" sz="3000" dirty="0" err="1"/>
              <a:t>Load_channel_table</a:t>
            </a:r>
            <a:r>
              <a:rPr lang="en-US" sz="3000" dirty="0"/>
              <a:t>, etc. might be a Metadata function since they don’t fully define Metadata states</a:t>
            </a:r>
          </a:p>
          <a:p>
            <a:r>
              <a:rPr lang="en-US" sz="3000" dirty="0"/>
              <a:t>Will definitely support old file structure (.xlsx, .nc4)</a:t>
            </a:r>
          </a:p>
          <a:p>
            <a:r>
              <a:rPr lang="en-US" sz="3000" dirty="0"/>
              <a:t>I want to add a </a:t>
            </a:r>
            <a:r>
              <a:rPr lang="en-US" sz="3000" dirty="0" err="1"/>
              <a:t>load_channel_table</a:t>
            </a:r>
            <a:r>
              <a:rPr lang="en-US" sz="3000" dirty="0"/>
              <a:t> from Pandas DF to make defining the channel table in headless mode easier. (If its okay to add Pandas dependency)</a:t>
            </a:r>
          </a:p>
          <a:p>
            <a:endParaRPr lang="en-US" sz="3000" dirty="0"/>
          </a:p>
          <a:p>
            <a:pPr marL="0" indent="0">
              <a:buNone/>
            </a:pPr>
            <a:r>
              <a:rPr lang="en-US" sz="3000" dirty="0"/>
              <a:t>If you want to change file formats to the ESCDF, this would probably be the update to do it</a:t>
            </a:r>
          </a:p>
        </p:txBody>
      </p:sp>
    </p:spTree>
    <p:extLst>
      <p:ext uri="{BB962C8B-B14F-4D97-AF65-F5344CB8AC3E}">
        <p14:creationId xmlns:p14="http://schemas.microsoft.com/office/powerpoint/2010/main" val="2120443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070E-65F6-0E9C-0FAF-63F00736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B5A3-1DE6-0340-DFCB-A2750B73F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F145A-1279-9542-728C-79C868E03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34167"/>
            <a:ext cx="15773400" cy="580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We should probably include example files for each of our load file stuff</a:t>
            </a:r>
          </a:p>
          <a:p>
            <a:r>
              <a:rPr lang="en-US" sz="3000" dirty="0"/>
              <a:t>Include example files for all virtual hardware</a:t>
            </a:r>
          </a:p>
          <a:p>
            <a:r>
              <a:rPr lang="en-US" sz="3000" dirty="0"/>
              <a:t>Include example files for environment  specific </a:t>
            </a:r>
            <a:r>
              <a:rPr lang="en-US" sz="3000" dirty="0" err="1"/>
              <a:t>load_signal</a:t>
            </a:r>
            <a:r>
              <a:rPr lang="en-US" sz="3000" dirty="0"/>
              <a:t>/FRFs/etc.</a:t>
            </a:r>
          </a:p>
          <a:p>
            <a:r>
              <a:rPr lang="en-US" sz="3000" dirty="0"/>
              <a:t>Include example files for all environment types performing tests on virtual hardware in headless mode.</a:t>
            </a:r>
          </a:p>
        </p:txBody>
      </p:sp>
    </p:spTree>
    <p:extLst>
      <p:ext uri="{BB962C8B-B14F-4D97-AF65-F5344CB8AC3E}">
        <p14:creationId xmlns:p14="http://schemas.microsoft.com/office/powerpoint/2010/main" val="2402561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2D43-3E82-95DF-CF2C-F4C251D5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38594-428C-9957-7D21-5D087F894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Stuff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099CC-9BDF-4B34-F549-EF75BFE60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07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30A8-ACFA-4178-152D-F89189EA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80A91-1BAD-C68E-91DD-5D73723C7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Make commands, metadata, instructions, process class</a:t>
            </a:r>
          </a:p>
          <a:p>
            <a:r>
              <a:rPr lang="en-US" sz="3200" dirty="0"/>
              <a:t>Add process to </a:t>
            </a:r>
            <a:r>
              <a:rPr lang="en-US" sz="3200" dirty="0" err="1"/>
              <a:t>environment_manager.add_environment</a:t>
            </a:r>
            <a:endParaRPr lang="en-US" sz="3200" dirty="0"/>
          </a:p>
          <a:p>
            <a:r>
              <a:rPr lang="en-US" sz="3200" dirty="0"/>
              <a:t>Make UI, assign </a:t>
            </a:r>
            <a:r>
              <a:rPr lang="en-US" sz="3200" dirty="0" err="1"/>
              <a:t>UICommands</a:t>
            </a:r>
            <a:r>
              <a:rPr lang="en-US" sz="3200" dirty="0"/>
              <a:t>, make </a:t>
            </a:r>
            <a:r>
              <a:rPr lang="en-US" sz="3200" dirty="0" err="1"/>
              <a:t>UICommands</a:t>
            </a:r>
            <a:r>
              <a:rPr lang="en-US" sz="3200" dirty="0"/>
              <a:t> in </a:t>
            </a:r>
            <a:r>
              <a:rPr lang="en-US" sz="3200" dirty="0" err="1"/>
              <a:t>ui_utilities</a:t>
            </a:r>
            <a:endParaRPr lang="en-US" sz="3200" dirty="0"/>
          </a:p>
          <a:p>
            <a:r>
              <a:rPr lang="en-US" sz="3200" dirty="0"/>
              <a:t>Add </a:t>
            </a:r>
            <a:r>
              <a:rPr lang="en-US" sz="3200" dirty="0" err="1"/>
              <a:t>ControlType</a:t>
            </a:r>
            <a:r>
              <a:rPr lang="en-US" sz="3200" dirty="0"/>
              <a:t>, </a:t>
            </a:r>
            <a:r>
              <a:rPr lang="en-US" sz="3200" dirty="0" err="1"/>
              <a:t>long_name</a:t>
            </a:r>
            <a:r>
              <a:rPr lang="en-US" sz="3200" dirty="0"/>
              <a:t> to </a:t>
            </a:r>
            <a:r>
              <a:rPr lang="en-US" sz="3200" dirty="0" err="1"/>
              <a:t>environment_utilities</a:t>
            </a:r>
            <a:endParaRPr lang="en-US" sz="3200" dirty="0"/>
          </a:p>
          <a:p>
            <a:r>
              <a:rPr lang="en-US" sz="3200" dirty="0"/>
              <a:t>Add profile events to </a:t>
            </a:r>
            <a:r>
              <a:rPr lang="en-US" sz="3200" dirty="0" err="1"/>
              <a:t>profile_manager</a:t>
            </a:r>
            <a:r>
              <a:rPr lang="en-US" sz="3200" dirty="0"/>
              <a:t> VALID_COMMANDS, VALID_DATA, program in logic for profile events to profile manager</a:t>
            </a:r>
          </a:p>
          <a:p>
            <a:r>
              <a:rPr lang="en-US" sz="3200" dirty="0"/>
              <a:t>Add/Remove </a:t>
            </a:r>
            <a:r>
              <a:rPr lang="en-US" sz="3200" dirty="0" err="1"/>
              <a:t>ControlType</a:t>
            </a:r>
            <a:r>
              <a:rPr lang="en-US" sz="3200" dirty="0"/>
              <a:t> from </a:t>
            </a:r>
            <a:r>
              <a:rPr lang="en-US" sz="3200" dirty="0" err="1"/>
              <a:t>mock_hardware.UNIMPLEMENTED_ENVIRONMENT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06900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32F5C-409C-A97F-92E8-42C50CE0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C429-5B68-10EF-8A1B-24EFA10A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D0186-08D9-9590-77AE-6DE86E06E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Make metadata, acquisition, output class</a:t>
            </a:r>
          </a:p>
          <a:p>
            <a:r>
              <a:rPr lang="en-US" sz="3200" dirty="0"/>
              <a:t>Add </a:t>
            </a:r>
            <a:r>
              <a:rPr lang="en-US" sz="3200" dirty="0" err="1"/>
              <a:t>HardwareType</a:t>
            </a:r>
            <a:r>
              <a:rPr lang="en-US" sz="3200" dirty="0"/>
              <a:t> to </a:t>
            </a:r>
            <a:r>
              <a:rPr lang="en-US" sz="3200" dirty="0" err="1"/>
              <a:t>hardware_utilities</a:t>
            </a:r>
            <a:endParaRPr lang="en-US" sz="3200" dirty="0"/>
          </a:p>
          <a:p>
            <a:r>
              <a:rPr lang="en-US" sz="3200" dirty="0"/>
              <a:t>Add startup function to acquisition, output in </a:t>
            </a:r>
            <a:r>
              <a:rPr lang="en-US" sz="3200" dirty="0" err="1"/>
              <a:t>initialize_hardware</a:t>
            </a:r>
            <a:endParaRPr lang="en-US" sz="3200" dirty="0"/>
          </a:p>
          <a:p>
            <a:r>
              <a:rPr lang="en-US" sz="3200" dirty="0"/>
              <a:t>Add UI options to </a:t>
            </a:r>
            <a:r>
              <a:rPr lang="en-US" sz="3200" dirty="0" err="1"/>
              <a:t>combined_environment_controller</a:t>
            </a:r>
            <a:r>
              <a:rPr lang="en-US" sz="3200" dirty="0"/>
              <a:t> UI file</a:t>
            </a:r>
          </a:p>
          <a:p>
            <a:r>
              <a:rPr lang="en-US" sz="3200" dirty="0"/>
              <a:t>Add </a:t>
            </a:r>
            <a:r>
              <a:rPr lang="en-US" sz="3200" dirty="0" err="1"/>
              <a:t>hardware_metadata</a:t>
            </a:r>
            <a:r>
              <a:rPr lang="en-US" sz="3200" dirty="0"/>
              <a:t> logic to user_interface.py</a:t>
            </a:r>
          </a:p>
          <a:p>
            <a:r>
              <a:rPr lang="en-US" sz="3200" dirty="0"/>
              <a:t>Edit </a:t>
            </a:r>
            <a:r>
              <a:rPr lang="en-US" sz="3200" dirty="0" err="1"/>
              <a:t>acquisition_dict</a:t>
            </a:r>
            <a:r>
              <a:rPr lang="en-US" sz="3200" dirty="0"/>
              <a:t>, etc. in tests/</a:t>
            </a:r>
            <a:r>
              <a:rPr lang="en-US" sz="3200" dirty="0" err="1"/>
              <a:t>mock_objects</a:t>
            </a:r>
            <a:r>
              <a:rPr lang="en-US" sz="3200" dirty="0"/>
              <a:t>/</a:t>
            </a:r>
            <a:r>
              <a:rPr lang="en-US" sz="3200" dirty="0" err="1"/>
              <a:t>mock_hardware</a:t>
            </a:r>
            <a:endParaRPr lang="en-US" sz="3200" dirty="0"/>
          </a:p>
          <a:p>
            <a:r>
              <a:rPr lang="en-US" sz="3200" dirty="0"/>
              <a:t>Add/Remove </a:t>
            </a:r>
            <a:r>
              <a:rPr lang="en-US" sz="3200" dirty="0" err="1"/>
              <a:t>HardwareType</a:t>
            </a:r>
            <a:r>
              <a:rPr lang="en-US" sz="3200" dirty="0"/>
              <a:t> from </a:t>
            </a:r>
            <a:r>
              <a:rPr lang="en-US" sz="3200" dirty="0" err="1"/>
              <a:t>mock_hardware.UNIMPLEMENTED_HARDWARE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58863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8D14-C0A7-7AEC-81BD-AA1E0F97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624C-27C4-E435-D957-8E4D9759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Ready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B1A3D-D8BA-0B91-B858-07BD5EA6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Environment.set_ready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initialize_hardware</a:t>
            </a:r>
            <a:r>
              <a:rPr lang="en-US" sz="2800" dirty="0"/>
              <a:t>, </a:t>
            </a:r>
            <a:r>
              <a:rPr lang="en-US" sz="2800" dirty="0" err="1"/>
              <a:t>initialize_environment</a:t>
            </a:r>
            <a:r>
              <a:rPr lang="en-US" sz="2800" dirty="0"/>
              <a:t>, </a:t>
            </a:r>
            <a:r>
              <a:rPr lang="en-US" sz="2800" dirty="0" err="1"/>
              <a:t>stop_environment</a:t>
            </a: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Acquisition.set_ready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Initialize_hardware</a:t>
            </a:r>
            <a:r>
              <a:rPr lang="en-US" sz="2800" dirty="0"/>
              <a:t>, </a:t>
            </a:r>
            <a:r>
              <a:rPr lang="en-US" sz="2800" dirty="0" err="1"/>
              <a:t>initialize_environment</a:t>
            </a:r>
            <a:r>
              <a:rPr lang="en-US" sz="2800" dirty="0"/>
              <a:t>, when startup/shutdown is achieved in </a:t>
            </a:r>
            <a:r>
              <a:rPr lang="en-US" sz="2800" dirty="0" err="1"/>
              <a:t>acquire_signal</a:t>
            </a: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Output.set_ready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Initialize_hardware</a:t>
            </a:r>
            <a:r>
              <a:rPr lang="en-US" sz="2800" dirty="0"/>
              <a:t>, </a:t>
            </a:r>
            <a:r>
              <a:rPr lang="en-US" sz="2800" dirty="0" err="1"/>
              <a:t>initialize_environment</a:t>
            </a:r>
            <a:r>
              <a:rPr lang="en-US" sz="2800" dirty="0"/>
              <a:t>, when startup/shutdown is achieved in </a:t>
            </a:r>
            <a:r>
              <a:rPr lang="en-US" sz="2800" dirty="0" err="1"/>
              <a:t>output_signal</a:t>
            </a: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Controller.set_ready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Closeout_profile</a:t>
            </a:r>
            <a:r>
              <a:rPr lang="en-US" sz="2800" dirty="0"/>
              <a:t> which fires after the last profile event/when </a:t>
            </a:r>
            <a:r>
              <a:rPr lang="en-US" sz="2800" dirty="0" err="1"/>
              <a:t>stop_profile</a:t>
            </a:r>
            <a:r>
              <a:rPr lang="en-US" sz="2800" dirty="0"/>
              <a:t> is run</a:t>
            </a:r>
          </a:p>
          <a:p>
            <a:pPr marL="0" indent="0">
              <a:buNone/>
            </a:pPr>
            <a:r>
              <a:rPr lang="en-US" sz="2800" dirty="0" err="1"/>
              <a:t>Streaming.set_ready</a:t>
            </a:r>
            <a:r>
              <a:rPr lang="en-US" sz="2800" dirty="0"/>
              <a:t>()</a:t>
            </a:r>
          </a:p>
          <a:p>
            <a:r>
              <a:rPr lang="en-US" sz="2800" dirty="0"/>
              <a:t>Initialize</a:t>
            </a:r>
          </a:p>
        </p:txBody>
      </p:sp>
    </p:spTree>
    <p:extLst>
      <p:ext uri="{BB962C8B-B14F-4D97-AF65-F5344CB8AC3E}">
        <p14:creationId xmlns:p14="http://schemas.microsoft.com/office/powerpoint/2010/main" val="3028591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F1FF-5D02-06A9-96AF-C66324FF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B09D-603D-890E-DF3A-FAD9CF1C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604D9-87CE-AF8E-8972-D14AE597F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Environment.set_active</a:t>
            </a:r>
            <a:r>
              <a:rPr lang="en-US" sz="2800" dirty="0"/>
              <a:t>/</a:t>
            </a:r>
            <a:r>
              <a:rPr lang="en-US" sz="2800" dirty="0" err="1"/>
              <a:t>clear_active</a:t>
            </a:r>
            <a:r>
              <a:rPr lang="en-US" sz="2800" dirty="0"/>
              <a:t>()</a:t>
            </a:r>
          </a:p>
          <a:p>
            <a:r>
              <a:rPr lang="en-US" sz="2800" dirty="0"/>
              <a:t>When startup/shutdown is achieved in </a:t>
            </a:r>
            <a:r>
              <a:rPr lang="en-US" sz="2800" dirty="0" err="1"/>
              <a:t>run_environment</a:t>
            </a: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Acquisition.set</a:t>
            </a:r>
            <a:r>
              <a:rPr lang="en-US" sz="2800" dirty="0"/>
              <a:t>_ active/</a:t>
            </a:r>
            <a:r>
              <a:rPr lang="en-US" sz="2800" dirty="0" err="1"/>
              <a:t>clear_active</a:t>
            </a:r>
            <a:r>
              <a:rPr lang="en-US" sz="2800" dirty="0"/>
              <a:t>()</a:t>
            </a:r>
          </a:p>
          <a:p>
            <a:r>
              <a:rPr lang="en-US" sz="2800" dirty="0"/>
              <a:t>When startup/shutdown is achieved in </a:t>
            </a:r>
            <a:r>
              <a:rPr lang="en-US" sz="2800" dirty="0" err="1"/>
              <a:t>acquire_signal</a:t>
            </a: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Output.set</a:t>
            </a:r>
            <a:r>
              <a:rPr lang="en-US" sz="2800" dirty="0"/>
              <a:t>_ active/</a:t>
            </a:r>
            <a:r>
              <a:rPr lang="en-US" sz="2800" dirty="0" err="1"/>
              <a:t>clear_active</a:t>
            </a:r>
            <a:r>
              <a:rPr lang="en-US" sz="2800" dirty="0"/>
              <a:t>()</a:t>
            </a:r>
          </a:p>
          <a:p>
            <a:r>
              <a:rPr lang="en-US" sz="2800" dirty="0"/>
              <a:t>When startup/shutdown is achieved in </a:t>
            </a:r>
            <a:r>
              <a:rPr lang="en-US" sz="2800" dirty="0" err="1"/>
              <a:t>output_signal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80143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1423</TotalTime>
  <Words>2395</Words>
  <Application>Microsoft Office PowerPoint</Application>
  <PresentationFormat>Custom</PresentationFormat>
  <Paragraphs>279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Headless Overhaul</vt:lpstr>
      <vt:lpstr>Workflow</vt:lpstr>
      <vt:lpstr>PowerPoint Presentation</vt:lpstr>
      <vt:lpstr>Rattlesnake Object</vt:lpstr>
      <vt:lpstr>Rattlesnake Functions</vt:lpstr>
      <vt:lpstr>New Events</vt:lpstr>
      <vt:lpstr>Blocking Feature</vt:lpstr>
      <vt:lpstr>Controller</vt:lpstr>
      <vt:lpstr>Environments</vt:lpstr>
      <vt:lpstr>EnvironmentManager</vt:lpstr>
      <vt:lpstr>Queue_names vs Environment_names</vt:lpstr>
      <vt:lpstr>Profile Events</vt:lpstr>
      <vt:lpstr>ProfileManager</vt:lpstr>
      <vt:lpstr>PowerPoint Presentation</vt:lpstr>
      <vt:lpstr>Threading Mode</vt:lpstr>
      <vt:lpstr>Threading vs Multiprocessing</vt:lpstr>
      <vt:lpstr>Reasoning for late stop (I think)</vt:lpstr>
      <vt:lpstr>Shutdown</vt:lpstr>
      <vt:lpstr>Unit Tests</vt:lpstr>
      <vt:lpstr>Linting</vt:lpstr>
      <vt:lpstr>Next Steps</vt:lpstr>
      <vt:lpstr>Main UI implementation</vt:lpstr>
      <vt:lpstr>Main UI implementation</vt:lpstr>
      <vt:lpstr>Hardware/Environments</vt:lpstr>
      <vt:lpstr>Save/Load files </vt:lpstr>
      <vt:lpstr>Example files</vt:lpstr>
      <vt:lpstr>Extra Stuff</vt:lpstr>
      <vt:lpstr>Building Environment</vt:lpstr>
      <vt:lpstr>Building Hardware</vt:lpstr>
      <vt:lpstr>Ready Events</vt:lpstr>
      <vt:lpstr>Active Events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Cody Michael Langston</dc:creator>
  <cp:lastModifiedBy>Riley Langston</cp:lastModifiedBy>
  <cp:revision>121</cp:revision>
  <dcterms:created xsi:type="dcterms:W3CDTF">2025-08-28T17:37:29Z</dcterms:created>
  <dcterms:modified xsi:type="dcterms:W3CDTF">2026-02-06T06:11:31Z</dcterms:modified>
</cp:coreProperties>
</file>